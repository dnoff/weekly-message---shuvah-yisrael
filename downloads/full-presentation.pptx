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96" y="9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Reppert" userId="1a465f7f-e6d7-4eb2-ba25-065c962ddbb2" providerId="ADAL" clId="{056D0A8B-7CDD-4ABA-8352-1AA9C4F76DB0}"/>
    <pc:docChg chg="undo redo custSel modSld">
      <pc:chgData name="James Reppert" userId="1a465f7f-e6d7-4eb2-ba25-065c962ddbb2" providerId="ADAL" clId="{056D0A8B-7CDD-4ABA-8352-1AA9C4F76DB0}" dt="2026-08-05T22:21:54.391" v="233" actId="12788"/>
      <pc:docMkLst>
        <pc:docMk/>
      </pc:docMkLst>
      <pc:sldChg chg="modSp mod">
        <pc:chgData name="James Reppert" userId="1a465f7f-e6d7-4eb2-ba25-065c962ddbb2" providerId="ADAL" clId="{056D0A8B-7CDD-4ABA-8352-1AA9C4F76DB0}" dt="2026-08-05T21:58:19.115" v="118" actId="947"/>
        <pc:sldMkLst>
          <pc:docMk/>
          <pc:sldMk cId="0" sldId="257"/>
        </pc:sldMkLst>
        <pc:spChg chg="mod">
          <ac:chgData name="James Reppert" userId="1a465f7f-e6d7-4eb2-ba25-065c962ddbb2" providerId="ADAL" clId="{056D0A8B-7CDD-4ABA-8352-1AA9C4F76DB0}" dt="2026-08-05T21:58:19.115" v="118" actId="947"/>
          <ac:spMkLst>
            <pc:docMk/>
            <pc:sldMk cId="0" sldId="257"/>
            <ac:spMk id="4" creationId="{00000000-0000-0000-0000-000000000000}"/>
          </ac:spMkLst>
        </pc:spChg>
      </pc:sldChg>
      <pc:sldChg chg="modSp mod">
        <pc:chgData name="James Reppert" userId="1a465f7f-e6d7-4eb2-ba25-065c962ddbb2" providerId="ADAL" clId="{056D0A8B-7CDD-4ABA-8352-1AA9C4F76DB0}" dt="2026-08-05T21:58:45.077" v="120" actId="947"/>
        <pc:sldMkLst>
          <pc:docMk/>
          <pc:sldMk cId="0" sldId="258"/>
        </pc:sldMkLst>
        <pc:spChg chg="mod">
          <ac:chgData name="James Reppert" userId="1a465f7f-e6d7-4eb2-ba25-065c962ddbb2" providerId="ADAL" clId="{056D0A8B-7CDD-4ABA-8352-1AA9C4F76DB0}" dt="2026-08-05T21:58:45.077" v="120" actId="947"/>
          <ac:spMkLst>
            <pc:docMk/>
            <pc:sldMk cId="0" sldId="258"/>
            <ac:spMk id="4" creationId="{00000000-0000-0000-0000-000000000000}"/>
          </ac:spMkLst>
        </pc:spChg>
      </pc:sldChg>
      <pc:sldChg chg="modSp mod">
        <pc:chgData name="James Reppert" userId="1a465f7f-e6d7-4eb2-ba25-065c962ddbb2" providerId="ADAL" clId="{056D0A8B-7CDD-4ABA-8352-1AA9C4F76DB0}" dt="2026-08-05T21:58:32.694" v="119" actId="947"/>
        <pc:sldMkLst>
          <pc:docMk/>
          <pc:sldMk cId="0" sldId="259"/>
        </pc:sldMkLst>
        <pc:spChg chg="mod">
          <ac:chgData name="James Reppert" userId="1a465f7f-e6d7-4eb2-ba25-065c962ddbb2" providerId="ADAL" clId="{056D0A8B-7CDD-4ABA-8352-1AA9C4F76DB0}" dt="2026-08-05T21:58:32.694" v="119" actId="947"/>
          <ac:spMkLst>
            <pc:docMk/>
            <pc:sldMk cId="0" sldId="259"/>
            <ac:spMk id="4" creationId="{00000000-0000-0000-0000-000000000000}"/>
          </ac:spMkLst>
        </pc:spChg>
      </pc:sldChg>
      <pc:sldChg chg="modSp mod">
        <pc:chgData name="James Reppert" userId="1a465f7f-e6d7-4eb2-ba25-065c962ddbb2" providerId="ADAL" clId="{056D0A8B-7CDD-4ABA-8352-1AA9C4F76DB0}" dt="2026-08-05T21:59:14.480" v="123" actId="947"/>
        <pc:sldMkLst>
          <pc:docMk/>
          <pc:sldMk cId="0" sldId="261"/>
        </pc:sldMkLst>
        <pc:spChg chg="mod">
          <ac:chgData name="James Reppert" userId="1a465f7f-e6d7-4eb2-ba25-065c962ddbb2" providerId="ADAL" clId="{056D0A8B-7CDD-4ABA-8352-1AA9C4F76DB0}" dt="2026-08-05T21:59:14.480" v="123" actId="947"/>
          <ac:spMkLst>
            <pc:docMk/>
            <pc:sldMk cId="0" sldId="261"/>
            <ac:spMk id="4" creationId="{00000000-0000-0000-0000-000000000000}"/>
          </ac:spMkLst>
        </pc:spChg>
      </pc:sldChg>
      <pc:sldChg chg="modSp mod">
        <pc:chgData name="James Reppert" userId="1a465f7f-e6d7-4eb2-ba25-065c962ddbb2" providerId="ADAL" clId="{056D0A8B-7CDD-4ABA-8352-1AA9C4F76DB0}" dt="2026-08-05T21:54:02.756" v="117" actId="20577"/>
        <pc:sldMkLst>
          <pc:docMk/>
          <pc:sldMk cId="0" sldId="268"/>
        </pc:sldMkLst>
        <pc:spChg chg="mod">
          <ac:chgData name="James Reppert" userId="1a465f7f-e6d7-4eb2-ba25-065c962ddbb2" providerId="ADAL" clId="{056D0A8B-7CDD-4ABA-8352-1AA9C4F76DB0}" dt="2026-08-05T21:54:02.756" v="117" actId="20577"/>
          <ac:spMkLst>
            <pc:docMk/>
            <pc:sldMk cId="0" sldId="268"/>
            <ac:spMk id="4" creationId="{00000000-0000-0000-0000-000000000000}"/>
          </ac:spMkLst>
        </pc:spChg>
      </pc:sldChg>
      <pc:sldChg chg="modSp mod">
        <pc:chgData name="James Reppert" userId="1a465f7f-e6d7-4eb2-ba25-065c962ddbb2" providerId="ADAL" clId="{056D0A8B-7CDD-4ABA-8352-1AA9C4F76DB0}" dt="2026-08-05T22:10:20.377" v="198" actId="20577"/>
        <pc:sldMkLst>
          <pc:docMk/>
          <pc:sldMk cId="0" sldId="271"/>
        </pc:sldMkLst>
        <pc:spChg chg="mod">
          <ac:chgData name="James Reppert" userId="1a465f7f-e6d7-4eb2-ba25-065c962ddbb2" providerId="ADAL" clId="{056D0A8B-7CDD-4ABA-8352-1AA9C4F76DB0}" dt="2026-08-05T22:10:20.377" v="198" actId="20577"/>
          <ac:spMkLst>
            <pc:docMk/>
            <pc:sldMk cId="0" sldId="271"/>
            <ac:spMk id="4" creationId="{00000000-0000-0000-0000-000000000000}"/>
          </ac:spMkLst>
        </pc:spChg>
      </pc:sldChg>
      <pc:sldChg chg="modSp mod">
        <pc:chgData name="James Reppert" userId="1a465f7f-e6d7-4eb2-ba25-065c962ddbb2" providerId="ADAL" clId="{056D0A8B-7CDD-4ABA-8352-1AA9C4F76DB0}" dt="2026-08-05T22:06:08.774" v="148" actId="20577"/>
        <pc:sldMkLst>
          <pc:docMk/>
          <pc:sldMk cId="0" sldId="272"/>
        </pc:sldMkLst>
        <pc:spChg chg="mod">
          <ac:chgData name="James Reppert" userId="1a465f7f-e6d7-4eb2-ba25-065c962ddbb2" providerId="ADAL" clId="{056D0A8B-7CDD-4ABA-8352-1AA9C4F76DB0}" dt="2026-08-05T22:06:08.774" v="148" actId="20577"/>
          <ac:spMkLst>
            <pc:docMk/>
            <pc:sldMk cId="0" sldId="272"/>
            <ac:spMk id="4" creationId="{00000000-0000-0000-0000-000000000000}"/>
          </ac:spMkLst>
        </pc:spChg>
      </pc:sldChg>
      <pc:sldChg chg="modSp mod">
        <pc:chgData name="James Reppert" userId="1a465f7f-e6d7-4eb2-ba25-065c962ddbb2" providerId="ADAL" clId="{056D0A8B-7CDD-4ABA-8352-1AA9C4F76DB0}" dt="2026-08-05T22:10:58.804" v="200" actId="20577"/>
        <pc:sldMkLst>
          <pc:docMk/>
          <pc:sldMk cId="0" sldId="273"/>
        </pc:sldMkLst>
        <pc:spChg chg="mod">
          <ac:chgData name="James Reppert" userId="1a465f7f-e6d7-4eb2-ba25-065c962ddbb2" providerId="ADAL" clId="{056D0A8B-7CDD-4ABA-8352-1AA9C4F76DB0}" dt="2026-08-05T22:10:58.804" v="200" actId="20577"/>
          <ac:spMkLst>
            <pc:docMk/>
            <pc:sldMk cId="0" sldId="273"/>
            <ac:spMk id="4" creationId="{00000000-0000-0000-0000-000000000000}"/>
          </ac:spMkLst>
        </pc:spChg>
      </pc:sldChg>
      <pc:sldChg chg="modSp mod">
        <pc:chgData name="James Reppert" userId="1a465f7f-e6d7-4eb2-ba25-065c962ddbb2" providerId="ADAL" clId="{056D0A8B-7CDD-4ABA-8352-1AA9C4F76DB0}" dt="2026-08-05T22:11:08.022" v="202" actId="20577"/>
        <pc:sldMkLst>
          <pc:docMk/>
          <pc:sldMk cId="0" sldId="274"/>
        </pc:sldMkLst>
        <pc:spChg chg="mod">
          <ac:chgData name="James Reppert" userId="1a465f7f-e6d7-4eb2-ba25-065c962ddbb2" providerId="ADAL" clId="{056D0A8B-7CDD-4ABA-8352-1AA9C4F76DB0}" dt="2026-08-05T22:11:08.022" v="202" actId="20577"/>
          <ac:spMkLst>
            <pc:docMk/>
            <pc:sldMk cId="0" sldId="274"/>
            <ac:spMk id="4" creationId="{00000000-0000-0000-0000-000000000000}"/>
          </ac:spMkLst>
        </pc:spChg>
      </pc:sldChg>
      <pc:sldChg chg="modSp mod">
        <pc:chgData name="James Reppert" userId="1a465f7f-e6d7-4eb2-ba25-065c962ddbb2" providerId="ADAL" clId="{056D0A8B-7CDD-4ABA-8352-1AA9C4F76DB0}" dt="2026-08-05T22:11:30.258" v="204" actId="20577"/>
        <pc:sldMkLst>
          <pc:docMk/>
          <pc:sldMk cId="0" sldId="275"/>
        </pc:sldMkLst>
        <pc:spChg chg="mod">
          <ac:chgData name="James Reppert" userId="1a465f7f-e6d7-4eb2-ba25-065c962ddbb2" providerId="ADAL" clId="{056D0A8B-7CDD-4ABA-8352-1AA9C4F76DB0}" dt="2026-08-05T22:11:30.258" v="204" actId="20577"/>
          <ac:spMkLst>
            <pc:docMk/>
            <pc:sldMk cId="0" sldId="275"/>
            <ac:spMk id="4" creationId="{00000000-0000-0000-0000-000000000000}"/>
          </ac:spMkLst>
        </pc:spChg>
      </pc:sldChg>
      <pc:sldChg chg="modSp mod">
        <pc:chgData name="James Reppert" userId="1a465f7f-e6d7-4eb2-ba25-065c962ddbb2" providerId="ADAL" clId="{056D0A8B-7CDD-4ABA-8352-1AA9C4F76DB0}" dt="2026-08-05T22:14:40.768" v="208" actId="1076"/>
        <pc:sldMkLst>
          <pc:docMk/>
          <pc:sldMk cId="0" sldId="280"/>
        </pc:sldMkLst>
        <pc:spChg chg="mod">
          <ac:chgData name="James Reppert" userId="1a465f7f-e6d7-4eb2-ba25-065c962ddbb2" providerId="ADAL" clId="{056D0A8B-7CDD-4ABA-8352-1AA9C4F76DB0}" dt="2026-08-05T22:14:40.768" v="208" actId="1076"/>
          <ac:spMkLst>
            <pc:docMk/>
            <pc:sldMk cId="0" sldId="280"/>
            <ac:spMk id="13" creationId="{00000000-0000-0000-0000-000000000000}"/>
          </ac:spMkLst>
        </pc:spChg>
      </pc:sldChg>
      <pc:sldChg chg="modSp mod">
        <pc:chgData name="James Reppert" userId="1a465f7f-e6d7-4eb2-ba25-065c962ddbb2" providerId="ADAL" clId="{056D0A8B-7CDD-4ABA-8352-1AA9C4F76DB0}" dt="2026-08-05T22:21:54.391" v="233" actId="12788"/>
        <pc:sldMkLst>
          <pc:docMk/>
          <pc:sldMk cId="0" sldId="292"/>
        </pc:sldMkLst>
        <pc:spChg chg="mod">
          <ac:chgData name="James Reppert" userId="1a465f7f-e6d7-4eb2-ba25-065c962ddbb2" providerId="ADAL" clId="{056D0A8B-7CDD-4ABA-8352-1AA9C4F76DB0}" dt="2026-08-05T22:19:26.648" v="212" actId="20577"/>
          <ac:spMkLst>
            <pc:docMk/>
            <pc:sldMk cId="0" sldId="292"/>
            <ac:spMk id="3" creationId="{00000000-0000-0000-0000-000000000000}"/>
          </ac:spMkLst>
        </pc:spChg>
        <pc:spChg chg="mod">
          <ac:chgData name="James Reppert" userId="1a465f7f-e6d7-4eb2-ba25-065c962ddbb2" providerId="ADAL" clId="{056D0A8B-7CDD-4ABA-8352-1AA9C4F76DB0}" dt="2026-08-05T22:21:54.391" v="233" actId="12788"/>
          <ac:spMkLst>
            <pc:docMk/>
            <pc:sldMk cId="0" sldId="292"/>
            <ac:spMk id="8" creationId="{00000000-0000-0000-0000-000000000000}"/>
          </ac:spMkLst>
        </pc:spChg>
      </pc:sldChg>
      <pc:sldChg chg="modSp mod">
        <pc:chgData name="James Reppert" userId="1a465f7f-e6d7-4eb2-ba25-065c962ddbb2" providerId="ADAL" clId="{056D0A8B-7CDD-4ABA-8352-1AA9C4F76DB0}" dt="2026-08-05T22:02:05.325" v="139" actId="947"/>
        <pc:sldMkLst>
          <pc:docMk/>
          <pc:sldMk cId="0" sldId="295"/>
        </pc:sldMkLst>
        <pc:spChg chg="mod">
          <ac:chgData name="James Reppert" userId="1a465f7f-e6d7-4eb2-ba25-065c962ddbb2" providerId="ADAL" clId="{056D0A8B-7CDD-4ABA-8352-1AA9C4F76DB0}" dt="2026-08-05T22:02:05.325" v="139" actId="947"/>
          <ac:spMkLst>
            <pc:docMk/>
            <pc:sldMk cId="0" sldId="295"/>
            <ac:spMk id="4" creationId="{00000000-0000-0000-0000-000000000000}"/>
          </ac:spMkLst>
        </pc:spChg>
      </pc:sldChg>
      <pc:sldChg chg="modSp mod">
        <pc:chgData name="James Reppert" userId="1a465f7f-e6d7-4eb2-ba25-065c962ddbb2" providerId="ADAL" clId="{056D0A8B-7CDD-4ABA-8352-1AA9C4F76DB0}" dt="2026-08-05T22:02:16.441" v="140" actId="947"/>
        <pc:sldMkLst>
          <pc:docMk/>
          <pc:sldMk cId="0" sldId="296"/>
        </pc:sldMkLst>
        <pc:spChg chg="mod">
          <ac:chgData name="James Reppert" userId="1a465f7f-e6d7-4eb2-ba25-065c962ddbb2" providerId="ADAL" clId="{056D0A8B-7CDD-4ABA-8352-1AA9C4F76DB0}" dt="2026-08-05T22:02:16.441" v="140" actId="947"/>
          <ac:spMkLst>
            <pc:docMk/>
            <pc:sldMk cId="0" sldId="29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078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NOTES — closing summary:
To summarize the chronology: Sukkah 52a, the Targum, the Talmud, and the earliest midrash together span roughly seven hundred years of Jewish teaching, beginning shortly after the Second Temple period. Across that entire span, the reading is messianic. This is the earliest reading on record, and the one requiring the least reinterpretation.
The national reading enters the record later. Around the year 248, Origen documents a debate with Jewish scholars in which, for the first time in the surviving record, the servant is identified with the nation rather than the Messiah. Eight centuries after that, Rashi's commentary establishes the national reading as the mainstream Jewish position.
Rashi did not originate this reading; the record shows it already circulating by Origen's time. What his commentary did was make it the dominant position, several centuries later.
One figure worth noting: Rashi lived roughly twenty-three hundred fifty years after Sinai, about eight hundred fifty years further from Sinai than Sukkah 52a, our earliest messianic source.
So when the claim is made that this is simply what the rabbis have always taught, the relevant follow-up questions are which rabbi, and when he lived. The rabbi closest to Sinai said Messiah. The rabbi who changed that answer did so about eight hundred fifty years further from Sinai.
The question is not which tradition is older, Judaism or Christianity. The question is which reading is older within Judaism's own record. On that question, the dates are consistent: the messianic reading is earliest, and closest to the source.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100:3</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Acknowledge that the LORD is God; He made us and not we ourselves.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139:13–14</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It was You who created my conscience; You fashioned me in my mother's womb. </a:t>
            </a:r>
            <a:r>
              <a:rPr lang="en-US" sz="2800" i="1" baseline="30000" dirty="0">
                <a:solidFill>
                  <a:srgbClr val="1E2761"/>
                </a:solidFill>
                <a:latin typeface="Cambria" pitchFamily="34" charset="0"/>
                <a:ea typeface="Cambria" pitchFamily="34" charset="-122"/>
                <a:cs typeface="Cambria" pitchFamily="34" charset="-120"/>
              </a:rPr>
              <a:t>14</a:t>
            </a:r>
            <a:r>
              <a:rPr lang="en-US" sz="2800" i="1" dirty="0">
                <a:solidFill>
                  <a:srgbClr val="1E2761"/>
                </a:solidFill>
                <a:latin typeface="Cambria" pitchFamily="34" charset="0"/>
                <a:ea typeface="Cambria" pitchFamily="34" charset="-122"/>
                <a:cs typeface="Cambria" pitchFamily="34" charset="-120"/>
              </a:rPr>
              <a:t>I praise You, for I am awesomely, wondrously made; Your work is wonderful; I know it very well.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139:1–2</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O LORD, You have examined me and know me. </a:t>
            </a:r>
            <a:r>
              <a:rPr lang="en-US" sz="2800" i="1" baseline="30000" dirty="0">
                <a:solidFill>
                  <a:srgbClr val="1E2761"/>
                </a:solidFill>
                <a:latin typeface="Cambria" pitchFamily="34" charset="0"/>
                <a:ea typeface="Cambria" pitchFamily="34" charset="-122"/>
                <a:cs typeface="Cambria" pitchFamily="34" charset="-120"/>
              </a:rPr>
              <a:t>2</a:t>
            </a:r>
            <a:r>
              <a:rPr lang="en-US" sz="2800" i="1" dirty="0">
                <a:solidFill>
                  <a:srgbClr val="1E2761"/>
                </a:solidFill>
                <a:latin typeface="Cambria" pitchFamily="34" charset="0"/>
                <a:ea typeface="Cambria" pitchFamily="34" charset="-122"/>
                <a:cs typeface="Cambria" pitchFamily="34" charset="-120"/>
              </a:rPr>
              <a:t>When I sit down or stand up You know it; You discern my thoughts from afar.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55:10–11</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For as the rain or snow drops from heaven and returns not there, but soaks the earth and makes it bring forth vegetation, yielding seed for sowing and bread for eating, </a:t>
            </a:r>
            <a:r>
              <a:rPr lang="en-US" sz="2800" i="1" baseline="30000" dirty="0">
                <a:solidFill>
                  <a:srgbClr val="1E2761"/>
                </a:solidFill>
                <a:latin typeface="Cambria" pitchFamily="34" charset="0"/>
                <a:ea typeface="Cambria" pitchFamily="34" charset="-122"/>
                <a:cs typeface="Cambria" pitchFamily="34" charset="-120"/>
              </a:rPr>
              <a:t>11</a:t>
            </a:r>
            <a:r>
              <a:rPr lang="en-US" sz="2800" i="1" dirty="0">
                <a:solidFill>
                  <a:srgbClr val="1E2761"/>
                </a:solidFill>
                <a:latin typeface="Cambria" pitchFamily="34" charset="0"/>
                <a:ea typeface="Cambria" pitchFamily="34" charset="-122"/>
                <a:cs typeface="Cambria" pitchFamily="34" charset="-120"/>
              </a:rPr>
              <a:t>So is the word that issues from My mouth: It does not come back to Me unfulfilled, but performs what I purpose, achieves what I sent it to do.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Deuteronomy 4:2</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You shall not add anything to what I command you or take anything away from it, but keep the commandments of the LORD your God that I enjoin upon you.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Deuteronomy 30:11–14</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Surely, this Instruction which I enjoin upon you this day is not too baffling for you, nor is it beyond reach. </a:t>
            </a:r>
            <a:r>
              <a:rPr lang="en-US" sz="2800" i="1" baseline="30000" dirty="0">
                <a:solidFill>
                  <a:srgbClr val="1E2761"/>
                </a:solidFill>
                <a:latin typeface="Cambria" pitchFamily="34" charset="0"/>
                <a:ea typeface="Cambria" pitchFamily="34" charset="-122"/>
                <a:cs typeface="Cambria" pitchFamily="34" charset="-120"/>
              </a:rPr>
              <a:t>12</a:t>
            </a:r>
            <a:r>
              <a:rPr lang="en-US" sz="2800" i="1" dirty="0">
                <a:solidFill>
                  <a:srgbClr val="1E2761"/>
                </a:solidFill>
                <a:latin typeface="Cambria" pitchFamily="34" charset="0"/>
                <a:ea typeface="Cambria" pitchFamily="34" charset="-122"/>
                <a:cs typeface="Cambria" pitchFamily="34" charset="-120"/>
              </a:rPr>
              <a:t>It is not in the heavens, that you should say, “Who among us can go up to the heavens and get it for us and impart it to us, that we may observe it?” </a:t>
            </a:r>
            <a:r>
              <a:rPr lang="en-US" sz="2800" i="1" baseline="30000" dirty="0">
                <a:solidFill>
                  <a:srgbClr val="1E2761"/>
                </a:solidFill>
                <a:latin typeface="Cambria" pitchFamily="34" charset="0"/>
                <a:ea typeface="Cambria" pitchFamily="34" charset="-122"/>
                <a:cs typeface="Cambria" pitchFamily="34" charset="-120"/>
              </a:rPr>
              <a:t>13</a:t>
            </a:r>
            <a:r>
              <a:rPr lang="en-US" sz="2800" i="1" dirty="0">
                <a:solidFill>
                  <a:srgbClr val="1E2761"/>
                </a:solidFill>
                <a:latin typeface="Cambria" pitchFamily="34" charset="0"/>
                <a:ea typeface="Cambria" pitchFamily="34" charset="-122"/>
                <a:cs typeface="Cambria" pitchFamily="34" charset="-120"/>
              </a:rPr>
              <a:t>Neither is it beyond the sea, that you should say, “Who among us can cross to the other side of the sea and get it for us and impart it to us, that we may observe it?” </a:t>
            </a:r>
            <a:r>
              <a:rPr lang="en-US" sz="2800" i="1" baseline="30000" dirty="0">
                <a:solidFill>
                  <a:srgbClr val="1E2761"/>
                </a:solidFill>
                <a:latin typeface="Cambria" pitchFamily="34" charset="0"/>
                <a:ea typeface="Cambria" pitchFamily="34" charset="-122"/>
                <a:cs typeface="Cambria" pitchFamily="34" charset="-120"/>
              </a:rPr>
              <a:t>14</a:t>
            </a:r>
            <a:r>
              <a:rPr lang="en-US" sz="2800" i="1" dirty="0">
                <a:solidFill>
                  <a:srgbClr val="1E2761"/>
                </a:solidFill>
                <a:latin typeface="Cambria" pitchFamily="34" charset="0"/>
                <a:ea typeface="Cambria" pitchFamily="34" charset="-122"/>
                <a:cs typeface="Cambria" pitchFamily="34" charset="-120"/>
              </a:rPr>
              <a:t>No, the thing is very close to you, in your mouth and in your heart, to observe it.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Ecclesiastes 7:20</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For there is not one good man on earth who does what is best and doesn't err.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59:2</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But your iniquities have been a barrier between you and your God. Your sins have made Him turn His face away and refuse to hear you.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Ezekiel 18:20</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The person who sins, he alone shall die.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Ecclesiastes 12:14</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God will call every creature to account for everything unknown, be it good or bad.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Daniel 12:2</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Many of those that sleep in the dust of the earth will awake, some to eternal life, others to reproaches, to everlasting abhorrence.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Proverbs 30:4</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Who has ascended heaven and come down? Who has gathered up the wind in the hollow of his hand? Who has wrapped the waters in his garment? Who has established all the extremities of the earth? What is his name or his son's name, if you know it?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7:14</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225296"/>
            <a:ext cx="10515600" cy="4601346"/>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Assuredly, my Lord will give you a sign of His own accord! Look, the young woman is with child and about to give birth to a son. Let her name him </a:t>
            </a:r>
            <a:r>
              <a:rPr lang="en-US" sz="2800" i="1" dirty="0" err="1">
                <a:solidFill>
                  <a:srgbClr val="1E2761"/>
                </a:solidFill>
                <a:latin typeface="Cambria" pitchFamily="34" charset="0"/>
                <a:ea typeface="Cambria" pitchFamily="34" charset="-122"/>
                <a:cs typeface="Cambria" pitchFamily="34" charset="-120"/>
              </a:rPr>
              <a:t>Immanuel.</a:t>
            </a:r>
            <a:r>
              <a:rPr lang="en-US" sz="2800" i="1" baseline="30000" dirty="0" err="1">
                <a:solidFill>
                  <a:srgbClr val="1E2761"/>
                </a:solidFill>
                <a:latin typeface="Cambria" pitchFamily="34" charset="0"/>
                <a:ea typeface="Cambria" pitchFamily="34" charset="-122"/>
                <a:cs typeface="Cambria" pitchFamily="34" charset="-120"/>
              </a:rPr>
              <a:t>g</a:t>
            </a:r>
            <a:r>
              <a:rPr lang="en-US" sz="2800" i="1" dirty="0">
                <a:solidFill>
                  <a:srgbClr val="1E2761"/>
                </a:solidFill>
                <a:latin typeface="Cambria" pitchFamily="34" charset="0"/>
                <a:ea typeface="Cambria" pitchFamily="34" charset="-122"/>
                <a:cs typeface="Cambria" pitchFamily="34" charset="-120"/>
              </a:rPr>
              <a:t> (JPS)</a:t>
            </a:r>
          </a:p>
          <a:p>
            <a:pPr marL="0" indent="0">
              <a:lnSpc>
                <a:spcPct val="132000"/>
              </a:lnSpc>
              <a:buNone/>
            </a:pPr>
            <a:endParaRPr lang="en-US" sz="2800" dirty="0"/>
          </a:p>
          <a:p>
            <a:pPr marL="0" indent="0">
              <a:lnSpc>
                <a:spcPct val="132000"/>
              </a:lnSpc>
              <a:buNone/>
            </a:pPr>
            <a:r>
              <a:rPr lang="en-US" sz="2800" dirty="0">
                <a:latin typeface="Cambria" panose="02040503050406030204" pitchFamily="18" charset="0"/>
                <a:ea typeface="Cambria" panose="02040503050406030204" pitchFamily="18" charset="0"/>
              </a:rPr>
              <a:t>JPS footnote g: </a:t>
            </a:r>
            <a:r>
              <a:rPr lang="en-US" sz="2800" i="1" dirty="0">
                <a:latin typeface="Cambria" panose="02040503050406030204" pitchFamily="18" charset="0"/>
                <a:ea typeface="Cambria" panose="02040503050406030204" pitchFamily="18" charset="0"/>
              </a:rPr>
              <a:t>Meaning “with us is God.”</a:t>
            </a:r>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Leviticus 17:11</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For the life of the flesh is in the blood, and I have assigned it to you for making expiation for your lives upon the altar; it is the blood, as life, that effects expiation.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53:5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But he was wounded because of our sins, crushed because of our iniquities. He bore the chastisement that made us whole, and by his bruises we were healed.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52:13–53:12 · Part 1 of 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a:lnSpc>
                <a:spcPct val="132000"/>
              </a:lnSpc>
            </a:pPr>
            <a:r>
              <a:rPr lang="en-US" sz="2800" i="1" dirty="0">
                <a:solidFill>
                  <a:srgbClr val="1E2761"/>
                </a:solidFill>
                <a:latin typeface="Cambria" pitchFamily="34" charset="0"/>
                <a:ea typeface="Cambria" pitchFamily="34" charset="-122"/>
                <a:cs typeface="Cambria" pitchFamily="34" charset="-120"/>
              </a:rPr>
              <a:t>53 </a:t>
            </a:r>
            <a:r>
              <a:rPr lang="en-US" sz="2800" i="1" baseline="30000" dirty="0">
                <a:solidFill>
                  <a:srgbClr val="1E2761"/>
                </a:solidFill>
                <a:latin typeface="Cambria" pitchFamily="34" charset="0"/>
                <a:ea typeface="Cambria" pitchFamily="34" charset="-122"/>
                <a:cs typeface="Cambria" pitchFamily="34" charset="-120"/>
              </a:rPr>
              <a:t>13</a:t>
            </a:r>
            <a:r>
              <a:rPr lang="en-US" sz="2800" i="1" dirty="0">
                <a:solidFill>
                  <a:srgbClr val="1E2761"/>
                </a:solidFill>
                <a:latin typeface="Cambria" pitchFamily="34" charset="0"/>
                <a:ea typeface="Cambria" pitchFamily="34" charset="-122"/>
                <a:cs typeface="Cambria" pitchFamily="34" charset="-120"/>
              </a:rPr>
              <a:t>Indeed, My servant shall prosper, be exalted and raised to great heights. </a:t>
            </a:r>
            <a:r>
              <a:rPr lang="en-US" sz="2800" i="1" baseline="30000" dirty="0">
                <a:solidFill>
                  <a:srgbClr val="1E2761"/>
                </a:solidFill>
                <a:latin typeface="Cambria" pitchFamily="34" charset="0"/>
                <a:ea typeface="Cambria" pitchFamily="34" charset="-122"/>
                <a:cs typeface="Cambria" pitchFamily="34" charset="-120"/>
              </a:rPr>
              <a:t>14</a:t>
            </a:r>
            <a:r>
              <a:rPr lang="en-US" sz="2800" i="1" dirty="0">
                <a:solidFill>
                  <a:srgbClr val="1E2761"/>
                </a:solidFill>
                <a:latin typeface="Cambria" pitchFamily="34" charset="0"/>
                <a:ea typeface="Cambria" pitchFamily="34" charset="-122"/>
                <a:cs typeface="Cambria" pitchFamily="34" charset="-120"/>
              </a:rPr>
              <a:t>Just as the many were appalled at him—so marred was his appearance, unlike that of man, his form, beyond human semblance— </a:t>
            </a:r>
            <a:r>
              <a:rPr lang="en-US" sz="2800" i="1" baseline="30000" dirty="0">
                <a:solidFill>
                  <a:srgbClr val="1E2761"/>
                </a:solidFill>
                <a:latin typeface="Cambria" pitchFamily="34" charset="0"/>
                <a:ea typeface="Cambria" pitchFamily="34" charset="-122"/>
                <a:cs typeface="Cambria" pitchFamily="34" charset="-120"/>
              </a:rPr>
              <a:t>15</a:t>
            </a:r>
            <a:r>
              <a:rPr lang="en-US" sz="2800" i="1" dirty="0">
                <a:solidFill>
                  <a:srgbClr val="1E2761"/>
                </a:solidFill>
                <a:latin typeface="Cambria" pitchFamily="34" charset="0"/>
                <a:ea typeface="Cambria" pitchFamily="34" charset="-122"/>
                <a:cs typeface="Cambria" pitchFamily="34" charset="-120"/>
              </a:rPr>
              <a:t>Just so he shall startle many nations. Kings shall be silenced because of him, for they shall see what has not been told them, shall behold what they never have heard. 53 Who can believe what we have heard? Upon whom has the arm of the LORD been revealed?</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52:13–53:12 · Part 2 of 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baseline="30000" dirty="0">
                <a:solidFill>
                  <a:srgbClr val="1E2761"/>
                </a:solidFill>
                <a:latin typeface="Cambria" pitchFamily="34" charset="0"/>
                <a:ea typeface="Cambria" pitchFamily="34" charset="-122"/>
                <a:cs typeface="Cambria" pitchFamily="34" charset="-120"/>
              </a:rPr>
              <a:t>2</a:t>
            </a:r>
            <a:r>
              <a:rPr lang="en-US" sz="2800" i="1" dirty="0">
                <a:solidFill>
                  <a:srgbClr val="1E2761"/>
                </a:solidFill>
                <a:latin typeface="Cambria" pitchFamily="34" charset="0"/>
                <a:ea typeface="Cambria" pitchFamily="34" charset="-122"/>
                <a:cs typeface="Cambria" pitchFamily="34" charset="-120"/>
              </a:rPr>
              <a:t>For he has grown, by His favor, like a tree crown, like a tree trunk out of arid ground. He had no form or beauty, that we should look at him: No charm, that we should find him pleasing. </a:t>
            </a:r>
            <a:r>
              <a:rPr lang="en-US" sz="2800" i="1" baseline="30000" dirty="0">
                <a:solidFill>
                  <a:srgbClr val="1E2761"/>
                </a:solidFill>
                <a:latin typeface="Cambria" pitchFamily="34" charset="0"/>
                <a:ea typeface="Cambria" pitchFamily="34" charset="-122"/>
                <a:cs typeface="Cambria" pitchFamily="34" charset="-120"/>
              </a:rPr>
              <a:t>3</a:t>
            </a:r>
            <a:r>
              <a:rPr lang="en-US" sz="2800" i="1" dirty="0">
                <a:solidFill>
                  <a:srgbClr val="1E2761"/>
                </a:solidFill>
                <a:latin typeface="Cambria" pitchFamily="34" charset="0"/>
                <a:ea typeface="Cambria" pitchFamily="34" charset="-122"/>
                <a:cs typeface="Cambria" pitchFamily="34" charset="-120"/>
              </a:rPr>
              <a:t>He was despised, shunned by men, a man of suffering, familiar with disease. As one who hid his face from us, He was despised, we held him of no account. </a:t>
            </a:r>
            <a:r>
              <a:rPr lang="en-US" sz="2800" i="1" baseline="30000" dirty="0">
                <a:solidFill>
                  <a:srgbClr val="1E2761"/>
                </a:solidFill>
                <a:latin typeface="Cambria" pitchFamily="34" charset="0"/>
                <a:ea typeface="Cambria" pitchFamily="34" charset="-122"/>
                <a:cs typeface="Cambria" pitchFamily="34" charset="-120"/>
              </a:rPr>
              <a:t>4</a:t>
            </a:r>
            <a:r>
              <a:rPr lang="en-US" sz="2800" i="1" dirty="0">
                <a:solidFill>
                  <a:srgbClr val="1E2761"/>
                </a:solidFill>
                <a:latin typeface="Cambria" pitchFamily="34" charset="0"/>
                <a:ea typeface="Cambria" pitchFamily="34" charset="-122"/>
                <a:cs typeface="Cambria" pitchFamily="34" charset="-120"/>
              </a:rPr>
              <a:t>Yet it was our sickness that he was bearing, our suffering that he endured. We accounted him plagued, smitten and afflicted by God;</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52:13–53:12 · Part 3 of 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baseline="30000" dirty="0">
                <a:solidFill>
                  <a:srgbClr val="1E2761"/>
                </a:solidFill>
                <a:latin typeface="Cambria" pitchFamily="34" charset="0"/>
                <a:ea typeface="Cambria" pitchFamily="34" charset="-122"/>
                <a:cs typeface="Cambria" pitchFamily="34" charset="-120"/>
              </a:rPr>
              <a:t>5</a:t>
            </a:r>
            <a:r>
              <a:rPr lang="en-US" sz="2800" i="1" dirty="0">
                <a:solidFill>
                  <a:srgbClr val="1E2761"/>
                </a:solidFill>
                <a:latin typeface="Cambria" pitchFamily="34" charset="0"/>
                <a:ea typeface="Cambria" pitchFamily="34" charset="-122"/>
                <a:cs typeface="Cambria" pitchFamily="34" charset="-120"/>
              </a:rPr>
              <a:t>But he was wounded because of our sins, crushed because of our iniquities. He bore the chastisement that made us whole, and by his bruises we were healed. </a:t>
            </a:r>
            <a:r>
              <a:rPr lang="en-US" sz="2800" i="1" baseline="30000" dirty="0">
                <a:solidFill>
                  <a:srgbClr val="1E2761"/>
                </a:solidFill>
                <a:latin typeface="Cambria" pitchFamily="34" charset="0"/>
                <a:ea typeface="Cambria" pitchFamily="34" charset="-122"/>
                <a:cs typeface="Cambria" pitchFamily="34" charset="-120"/>
              </a:rPr>
              <a:t>6</a:t>
            </a:r>
            <a:r>
              <a:rPr lang="en-US" sz="2800" i="1" dirty="0">
                <a:solidFill>
                  <a:srgbClr val="1E2761"/>
                </a:solidFill>
                <a:latin typeface="Cambria" pitchFamily="34" charset="0"/>
                <a:ea typeface="Cambria" pitchFamily="34" charset="-122"/>
                <a:cs typeface="Cambria" pitchFamily="34" charset="-120"/>
              </a:rPr>
              <a:t>We all went astray like sheep, each going his own way; and the LORD visited upon him the guilt of all of us. </a:t>
            </a:r>
            <a:r>
              <a:rPr lang="en-US" sz="2800" i="1" baseline="30000" dirty="0">
                <a:solidFill>
                  <a:srgbClr val="1E2761"/>
                </a:solidFill>
                <a:latin typeface="Cambria" pitchFamily="34" charset="0"/>
                <a:ea typeface="Cambria" pitchFamily="34" charset="-122"/>
                <a:cs typeface="Cambria" pitchFamily="34" charset="-120"/>
              </a:rPr>
              <a:t>7</a:t>
            </a:r>
            <a:r>
              <a:rPr lang="en-US" sz="2800" i="1" dirty="0">
                <a:solidFill>
                  <a:srgbClr val="1E2761"/>
                </a:solidFill>
                <a:latin typeface="Cambria" pitchFamily="34" charset="0"/>
                <a:ea typeface="Cambria" pitchFamily="34" charset="-122"/>
                <a:cs typeface="Cambria" pitchFamily="34" charset="-120"/>
              </a:rPr>
              <a:t>He was maltreated, yet he was submissive, he did not open his mouth; like a sheep being led to slaughter, like a ewe, dumb before those who shear her, he did not open his mouth.</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52:13–53:12 · Part 4 of 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baseline="30000" dirty="0">
                <a:solidFill>
                  <a:srgbClr val="1E2761"/>
                </a:solidFill>
                <a:latin typeface="Cambria" pitchFamily="34" charset="0"/>
                <a:ea typeface="Cambria" pitchFamily="34" charset="-122"/>
                <a:cs typeface="Cambria" pitchFamily="34" charset="-120"/>
              </a:rPr>
              <a:t>8</a:t>
            </a:r>
            <a:r>
              <a:rPr lang="en-US" sz="2800" i="1" dirty="0">
                <a:solidFill>
                  <a:srgbClr val="1E2761"/>
                </a:solidFill>
                <a:latin typeface="Cambria" pitchFamily="34" charset="0"/>
                <a:ea typeface="Cambria" pitchFamily="34" charset="-122"/>
                <a:cs typeface="Cambria" pitchFamily="34" charset="-120"/>
              </a:rPr>
              <a:t>By oppressive judgment he was taken away, who could describe his abode? For he was cut off from the land of the living through the sin of my people, who deserved the punishment. </a:t>
            </a:r>
            <a:r>
              <a:rPr lang="en-US" sz="2800" i="1" baseline="30000" dirty="0">
                <a:solidFill>
                  <a:srgbClr val="1E2761"/>
                </a:solidFill>
                <a:latin typeface="Cambria" pitchFamily="34" charset="0"/>
                <a:ea typeface="Cambria" pitchFamily="34" charset="-122"/>
                <a:cs typeface="Cambria" pitchFamily="34" charset="-120"/>
              </a:rPr>
              <a:t>9</a:t>
            </a:r>
            <a:r>
              <a:rPr lang="en-US" sz="2800" i="1" dirty="0">
                <a:solidFill>
                  <a:srgbClr val="1E2761"/>
                </a:solidFill>
                <a:latin typeface="Cambria" pitchFamily="34" charset="0"/>
                <a:ea typeface="Cambria" pitchFamily="34" charset="-122"/>
                <a:cs typeface="Cambria" pitchFamily="34" charset="-120"/>
              </a:rPr>
              <a:t>And his grave was set among the wicked, and with the rich, in his death—though he had done no injustice and had spoken no falsehood. </a:t>
            </a:r>
            <a:r>
              <a:rPr lang="en-US" sz="2800" i="1" baseline="30000" dirty="0">
                <a:solidFill>
                  <a:srgbClr val="1E2761"/>
                </a:solidFill>
                <a:latin typeface="Cambria" pitchFamily="34" charset="0"/>
                <a:ea typeface="Cambria" pitchFamily="34" charset="-122"/>
                <a:cs typeface="Cambria" pitchFamily="34" charset="-120"/>
              </a:rPr>
              <a:t>10</a:t>
            </a:r>
            <a:r>
              <a:rPr lang="en-US" sz="2800" i="1" dirty="0">
                <a:solidFill>
                  <a:srgbClr val="1E2761"/>
                </a:solidFill>
                <a:latin typeface="Cambria" pitchFamily="34" charset="0"/>
                <a:ea typeface="Cambria" pitchFamily="34" charset="-122"/>
                <a:cs typeface="Cambria" pitchFamily="34" charset="-120"/>
              </a:rPr>
              <a:t>But the LORD chose to crush him by disease, that, if he made himself an offering for guilt, he might see offspring and have long life, and that through him the LORD's purpose might prosper.</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52:13–53:12 · Part 5 of 5</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baseline="30000" dirty="0">
                <a:solidFill>
                  <a:srgbClr val="1E2761"/>
                </a:solidFill>
                <a:latin typeface="Cambria" pitchFamily="34" charset="0"/>
                <a:ea typeface="Cambria" pitchFamily="34" charset="-122"/>
                <a:cs typeface="Cambria" pitchFamily="34" charset="-120"/>
              </a:rPr>
              <a:t>11</a:t>
            </a:r>
            <a:r>
              <a:rPr lang="en-US" sz="2800" i="1" dirty="0">
                <a:solidFill>
                  <a:srgbClr val="1E2761"/>
                </a:solidFill>
                <a:latin typeface="Cambria" pitchFamily="34" charset="0"/>
                <a:ea typeface="Cambria" pitchFamily="34" charset="-122"/>
                <a:cs typeface="Cambria" pitchFamily="34" charset="-120"/>
              </a:rPr>
              <a:t>Out of his anguish he shall see it; he shall enjoy it to the full through his devotion. “My righteous servant makes the many righteous, it is their punishment that he bears; </a:t>
            </a:r>
            <a:r>
              <a:rPr lang="en-US" sz="2800" i="1" baseline="30000" dirty="0">
                <a:solidFill>
                  <a:srgbClr val="1E2761"/>
                </a:solidFill>
                <a:latin typeface="Cambria" pitchFamily="34" charset="0"/>
                <a:ea typeface="Cambria" pitchFamily="34" charset="-122"/>
                <a:cs typeface="Cambria" pitchFamily="34" charset="-120"/>
              </a:rPr>
              <a:t>12</a:t>
            </a:r>
            <a:r>
              <a:rPr lang="en-US" sz="2800" i="1" dirty="0">
                <a:solidFill>
                  <a:srgbClr val="1E2761"/>
                </a:solidFill>
                <a:latin typeface="Cambria" pitchFamily="34" charset="0"/>
                <a:ea typeface="Cambria" pitchFamily="34" charset="-122"/>
                <a:cs typeface="Cambria" pitchFamily="34" charset="-120"/>
              </a:rPr>
              <a:t>Assuredly, I will give him the many as his portion, he shall receive the multitude as his spoil. For he exposed himself to death and was numbered among the sinners, whereas he bore the guilt of the many and made intercession for sinners.”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1965960"/>
            <a:ext cx="10698480" cy="13716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WHO IS THE SERVANT?</a:t>
            </a:r>
            <a:endParaRPr lang="en-US" sz="5400" dirty="0"/>
          </a:p>
        </p:txBody>
      </p:sp>
      <p:sp>
        <p:nvSpPr>
          <p:cNvPr id="3" name="Text 1"/>
          <p:cNvSpPr/>
          <p:nvPr/>
        </p:nvSpPr>
        <p:spPr>
          <a:xfrm>
            <a:off x="731520" y="3246120"/>
            <a:ext cx="10698480" cy="640080"/>
          </a:xfrm>
          <a:prstGeom prst="rect">
            <a:avLst/>
          </a:prstGeom>
          <a:noFill/>
          <a:ln/>
        </p:spPr>
        <p:txBody>
          <a:bodyPr wrap="square"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 Chronology of Isaiah 53 in Jewish Tradition — Sinai to Today</a:t>
            </a:r>
            <a:endParaRPr lang="en-US" sz="2400" dirty="0"/>
          </a:p>
        </p:txBody>
      </p:sp>
      <p:sp>
        <p:nvSpPr>
          <p:cNvPr id="4" name="Shape 2"/>
          <p:cNvSpPr/>
          <p:nvPr/>
        </p:nvSpPr>
        <p:spPr>
          <a:xfrm>
            <a:off x="777240" y="4114800"/>
            <a:ext cx="2011680" cy="0"/>
          </a:xfrm>
          <a:prstGeom prst="line">
            <a:avLst/>
          </a:prstGeom>
          <a:noFill/>
          <a:ln w="38100">
            <a:solidFill>
              <a:srgbClr val="C9A227"/>
            </a:solidFill>
            <a:prstDash val="solid"/>
          </a:ln>
        </p:spPr>
      </p:sp>
      <p:sp>
        <p:nvSpPr>
          <p:cNvPr id="5" name="Text 3"/>
          <p:cNvSpPr/>
          <p:nvPr/>
        </p:nvSpPr>
        <p:spPr>
          <a:xfrm>
            <a:off x="731520" y="4343400"/>
            <a:ext cx="9875520" cy="548640"/>
          </a:xfrm>
          <a:prstGeom prst="rect">
            <a:avLst/>
          </a:prstGeom>
          <a:noFill/>
          <a:ln/>
        </p:spPr>
        <p:txBody>
          <a:bodyPr wrap="square"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A chronological review of the primary sources, century by century</a:t>
            </a:r>
            <a:endParaRPr lang="en-US" sz="1700" dirty="0"/>
          </a:p>
        </p:txBody>
      </p:sp>
      <p:sp>
        <p:nvSpPr>
          <p:cNvPr id="6" name="Text 4"/>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FFFFFF"/>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48640"/>
            <a:ext cx="5486400" cy="411480"/>
          </a:xfrm>
          <a:prstGeom prst="rect">
            <a:avLst/>
          </a:prstGeom>
          <a:noFill/>
          <a:ln/>
        </p:spPr>
        <p:txBody>
          <a:bodyPr wrap="square" rtlCol="0" anchor="ctr"/>
          <a:lstStyle/>
          <a:p>
            <a:pPr marL="0" indent="0">
              <a:buNone/>
            </a:pPr>
            <a:r>
              <a:rPr lang="en-US" sz="1500" b="1" kern="0" spc="200" dirty="0">
                <a:solidFill>
                  <a:srgbClr val="C9A227"/>
                </a:solidFill>
                <a:latin typeface="Calibri" pitchFamily="34" charset="0"/>
                <a:ea typeface="Calibri" pitchFamily="34" charset="-122"/>
                <a:cs typeface="Calibri" pitchFamily="34" charset="-120"/>
              </a:rPr>
              <a:t>THE QUESTION</a:t>
            </a:r>
            <a:endParaRPr lang="en-US" sz="1500" dirty="0"/>
          </a:p>
        </p:txBody>
      </p:sp>
      <p:sp>
        <p:nvSpPr>
          <p:cNvPr id="3" name="Text 1"/>
          <p:cNvSpPr/>
          <p:nvPr/>
        </p:nvSpPr>
        <p:spPr>
          <a:xfrm>
            <a:off x="731520" y="1051560"/>
            <a:ext cx="10698480" cy="1737360"/>
          </a:xfrm>
          <a:prstGeom prst="rect">
            <a:avLst/>
          </a:prstGeom>
          <a:noFill/>
          <a:ln/>
        </p:spPr>
        <p:txBody>
          <a:bodyPr wrap="square" rtlCol="0" anchor="ctr"/>
          <a:lstStyle/>
          <a:p>
            <a:pPr marL="0" indent="0">
              <a:lnSpc>
                <a:spcPct val="120000"/>
              </a:lnSpc>
              <a:buNone/>
            </a:pPr>
            <a:r>
              <a:rPr lang="en-US" sz="3600" b="1" i="1" dirty="0">
                <a:solidFill>
                  <a:srgbClr val="1E2761"/>
                </a:solidFill>
                <a:latin typeface="Cambria" pitchFamily="34" charset="0"/>
                <a:ea typeface="Cambria" pitchFamily="34" charset="-122"/>
                <a:cs typeface="Cambria" pitchFamily="34" charset="-120"/>
              </a:rPr>
              <a:t>“We can only tell you what the rabbis who lived closer to the days of Moses tell us.”</a:t>
            </a:r>
            <a:endParaRPr lang="en-US" sz="3600" dirty="0"/>
          </a:p>
        </p:txBody>
      </p:sp>
      <p:sp>
        <p:nvSpPr>
          <p:cNvPr id="4" name="Text 2"/>
          <p:cNvSpPr/>
          <p:nvPr/>
        </p:nvSpPr>
        <p:spPr>
          <a:xfrm>
            <a:off x="731520" y="2971800"/>
            <a:ext cx="10241280" cy="1005840"/>
          </a:xfrm>
          <a:prstGeom prst="rect">
            <a:avLst/>
          </a:prstGeom>
          <a:noFill/>
          <a:ln/>
        </p:spPr>
        <p:txBody>
          <a:bodyPr wrap="square" rtlCol="0" anchor="ctr"/>
          <a:lstStyle/>
          <a:p>
            <a:pPr marL="0" indent="0">
              <a:lnSpc>
                <a:spcPct val="120000"/>
              </a:lnSpc>
              <a:buNone/>
            </a:pPr>
            <a:r>
              <a:rPr lang="en-US" sz="2200" dirty="0">
                <a:solidFill>
                  <a:srgbClr val="5A6478"/>
                </a:solidFill>
                <a:latin typeface="Calibri" pitchFamily="34" charset="0"/>
                <a:ea typeface="Calibri" pitchFamily="34" charset="-122"/>
                <a:cs typeface="Calibri" pitchFamily="34" charset="-120"/>
              </a:rPr>
              <a:t>That is a reasonable standard. This presentation applies it systematically, source by source, century by century, to determine which reading of Isaiah 53 is in fact closer to Sinai.</a:t>
            </a:r>
            <a:endParaRPr lang="en-US" sz="2200" dirty="0"/>
          </a:p>
        </p:txBody>
      </p:sp>
      <p:sp>
        <p:nvSpPr>
          <p:cNvPr id="5" name="Shape 3"/>
          <p:cNvSpPr/>
          <p:nvPr/>
        </p:nvSpPr>
        <p:spPr>
          <a:xfrm>
            <a:off x="777240" y="4434840"/>
            <a:ext cx="237744" cy="237744"/>
          </a:xfrm>
          <a:prstGeom prst="ellipse">
            <a:avLst/>
          </a:prstGeom>
          <a:solidFill>
            <a:srgbClr val="C9A227"/>
          </a:solidFill>
          <a:ln/>
        </p:spPr>
      </p:sp>
      <p:sp>
        <p:nvSpPr>
          <p:cNvPr id="6" name="Text 4"/>
          <p:cNvSpPr/>
          <p:nvPr/>
        </p:nvSpPr>
        <p:spPr>
          <a:xfrm>
            <a:off x="1143000" y="4389120"/>
            <a:ext cx="4572000" cy="36576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Messianic / individual reading</a:t>
            </a:r>
            <a:endParaRPr lang="en-US" sz="1700" dirty="0"/>
          </a:p>
        </p:txBody>
      </p:sp>
      <p:sp>
        <p:nvSpPr>
          <p:cNvPr id="7" name="Shape 5"/>
          <p:cNvSpPr/>
          <p:nvPr/>
        </p:nvSpPr>
        <p:spPr>
          <a:xfrm>
            <a:off x="777240" y="5001768"/>
            <a:ext cx="237744" cy="237744"/>
          </a:xfrm>
          <a:prstGeom prst="ellipse">
            <a:avLst/>
          </a:prstGeom>
          <a:solidFill>
            <a:srgbClr val="5B7C99"/>
          </a:solidFill>
          <a:ln/>
        </p:spPr>
      </p:sp>
      <p:sp>
        <p:nvSpPr>
          <p:cNvPr id="8" name="Text 6"/>
          <p:cNvSpPr/>
          <p:nvPr/>
        </p:nvSpPr>
        <p:spPr>
          <a:xfrm>
            <a:off x="1143000" y="4956048"/>
            <a:ext cx="4572000" cy="36576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National / collective reading</a:t>
            </a:r>
            <a:endParaRPr lang="en-US" sz="1700" dirty="0"/>
          </a:p>
        </p:txBody>
      </p:sp>
      <p:sp>
        <p:nvSpPr>
          <p:cNvPr id="9" name="Shape 7"/>
          <p:cNvSpPr/>
          <p:nvPr/>
        </p:nvSpPr>
        <p:spPr>
          <a:xfrm>
            <a:off x="777240" y="5568696"/>
            <a:ext cx="237744" cy="237744"/>
          </a:xfrm>
          <a:prstGeom prst="ellipse">
            <a:avLst/>
          </a:prstGeom>
          <a:solidFill>
            <a:srgbClr val="8A8F98"/>
          </a:solidFill>
          <a:ln/>
        </p:spPr>
      </p:sp>
      <p:sp>
        <p:nvSpPr>
          <p:cNvPr id="10" name="Text 8"/>
          <p:cNvSpPr/>
          <p:nvPr/>
        </p:nvSpPr>
        <p:spPr>
          <a:xfrm>
            <a:off x="1143000" y="5522976"/>
            <a:ext cx="4572000" cy="36576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A third option (neither)</a:t>
            </a:r>
            <a:endParaRPr lang="en-US" sz="1700" dirty="0"/>
          </a:p>
        </p:txBody>
      </p:sp>
      <p:sp>
        <p:nvSpPr>
          <p:cNvPr id="11" name="Text 9"/>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457200"/>
            <a:ext cx="7315200" cy="365760"/>
          </a:xfrm>
          <a:prstGeom prst="rect">
            <a:avLst/>
          </a:prstGeom>
          <a:noFill/>
          <a:ln/>
        </p:spPr>
        <p:txBody>
          <a:bodyPr wrap="square" rtlCol="0" anchor="ctr"/>
          <a:lstStyle/>
          <a:p>
            <a:pPr marL="0" indent="0">
              <a:buNone/>
            </a:pPr>
            <a:r>
              <a:rPr lang="en-US" sz="1600" b="1" kern="0" spc="200" dirty="0">
                <a:solidFill>
                  <a:srgbClr val="C9A227"/>
                </a:solidFill>
                <a:latin typeface="Calibri" pitchFamily="34" charset="0"/>
                <a:ea typeface="Calibri" pitchFamily="34" charset="-122"/>
                <a:cs typeface="Calibri" pitchFamily="34" charset="-120"/>
              </a:rPr>
              <a:t>THE FULL TIMELINE</a:t>
            </a:r>
            <a:endParaRPr lang="en-US" sz="1600" dirty="0"/>
          </a:p>
        </p:txBody>
      </p:sp>
      <p:sp>
        <p:nvSpPr>
          <p:cNvPr id="3" name="Text 1"/>
          <p:cNvSpPr/>
          <p:nvPr/>
        </p:nvSpPr>
        <p:spPr>
          <a:xfrm>
            <a:off x="731520" y="868680"/>
            <a:ext cx="1069848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Every major Jewish reading of Isaiah 53, placed by century</a:t>
            </a:r>
            <a:endParaRPr lang="en-US" sz="2800" dirty="0"/>
          </a:p>
        </p:txBody>
      </p:sp>
      <p:sp>
        <p:nvSpPr>
          <p:cNvPr id="4" name="Shape 2"/>
          <p:cNvSpPr/>
          <p:nvPr/>
        </p:nvSpPr>
        <p:spPr>
          <a:xfrm>
            <a:off x="457200" y="3657600"/>
            <a:ext cx="11247120" cy="0"/>
          </a:xfrm>
          <a:prstGeom prst="line">
            <a:avLst/>
          </a:prstGeom>
          <a:noFill/>
          <a:ln w="38100">
            <a:solidFill>
              <a:srgbClr val="3A4470"/>
            </a:solidFill>
            <a:prstDash val="solid"/>
          </a:ln>
        </p:spPr>
      </p:sp>
      <p:sp>
        <p:nvSpPr>
          <p:cNvPr id="5" name="Text 3"/>
          <p:cNvSpPr/>
          <p:nvPr/>
        </p:nvSpPr>
        <p:spPr>
          <a:xfrm>
            <a:off x="365760" y="3794760"/>
            <a:ext cx="1645920" cy="5486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SINAI</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~1313 BCE</a:t>
            </a:r>
            <a:endParaRPr lang="en-US" sz="1200" dirty="0"/>
          </a:p>
        </p:txBody>
      </p:sp>
      <p:sp>
        <p:nvSpPr>
          <p:cNvPr id="6" name="Text 4"/>
          <p:cNvSpPr/>
          <p:nvPr/>
        </p:nvSpPr>
        <p:spPr>
          <a:xfrm>
            <a:off x="10149840" y="3794760"/>
            <a:ext cx="1645920" cy="548640"/>
          </a:xfrm>
          <a:prstGeom prst="rect">
            <a:avLst/>
          </a:prstGeom>
          <a:noFill/>
          <a:ln/>
        </p:spPr>
        <p:txBody>
          <a:bodyPr wrap="square"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TODAY</a:t>
            </a:r>
            <a:endParaRPr lang="en-US" sz="1200" dirty="0"/>
          </a:p>
          <a:p>
            <a:pPr marL="0" indent="0" algn="r">
              <a:buNone/>
            </a:pPr>
            <a:r>
              <a:rPr lang="en-US" sz="1200" b="1" dirty="0">
                <a:solidFill>
                  <a:srgbClr val="FFFFFF"/>
                </a:solidFill>
                <a:latin typeface="Calibri" pitchFamily="34" charset="0"/>
                <a:ea typeface="Calibri" pitchFamily="34" charset="-122"/>
                <a:cs typeface="Calibri" pitchFamily="34" charset="-120"/>
              </a:rPr>
              <a:t>2026 CE</a:t>
            </a:r>
            <a:endParaRPr lang="en-US" sz="1200" dirty="0"/>
          </a:p>
        </p:txBody>
      </p:sp>
      <p:sp>
        <p:nvSpPr>
          <p:cNvPr id="7" name="Shape 5"/>
          <p:cNvSpPr/>
          <p:nvPr/>
        </p:nvSpPr>
        <p:spPr>
          <a:xfrm>
            <a:off x="4879922" y="1691640"/>
            <a:ext cx="0" cy="3657600"/>
          </a:xfrm>
          <a:prstGeom prst="line">
            <a:avLst/>
          </a:prstGeom>
          <a:noFill/>
          <a:ln w="19050">
            <a:solidFill>
              <a:srgbClr val="C9A227"/>
            </a:solidFill>
            <a:prstDash val="dash"/>
          </a:ln>
        </p:spPr>
      </p:sp>
      <p:sp>
        <p:nvSpPr>
          <p:cNvPr id="8" name="Shape 6"/>
          <p:cNvSpPr/>
          <p:nvPr/>
        </p:nvSpPr>
        <p:spPr>
          <a:xfrm>
            <a:off x="4312994" y="5257800"/>
            <a:ext cx="1133856" cy="310896"/>
          </a:xfrm>
          <a:prstGeom prst="rect">
            <a:avLst/>
          </a:prstGeom>
          <a:solidFill>
            <a:srgbClr val="141B47"/>
          </a:solidFill>
          <a:ln w="12700">
            <a:solidFill>
              <a:srgbClr val="C9A227"/>
            </a:solidFill>
            <a:prstDash val="solid"/>
          </a:ln>
        </p:spPr>
      </p:sp>
      <p:sp>
        <p:nvSpPr>
          <p:cNvPr id="9" name="Text 7"/>
          <p:cNvSpPr/>
          <p:nvPr/>
        </p:nvSpPr>
        <p:spPr>
          <a:xfrm>
            <a:off x="4312994" y="5257800"/>
            <a:ext cx="1133856" cy="310896"/>
          </a:xfrm>
          <a:prstGeom prst="rect">
            <a:avLst/>
          </a:prstGeom>
          <a:noFill/>
          <a:ln/>
        </p:spPr>
        <p:txBody>
          <a:bodyPr wrap="square" rtlCol="0" anchor="ctr"/>
          <a:lstStyle/>
          <a:p>
            <a:pPr marL="0" indent="0" algn="ctr">
              <a:buNone/>
            </a:pPr>
            <a:r>
              <a:rPr lang="en-US" sz="900" b="1" kern="0" spc="50" dirty="0">
                <a:solidFill>
                  <a:srgbClr val="C9A227"/>
                </a:solidFill>
                <a:latin typeface="Calibri" pitchFamily="34" charset="0"/>
                <a:ea typeface="Calibri" pitchFamily="34" charset="-122"/>
                <a:cs typeface="Calibri" pitchFamily="34" charset="-120"/>
              </a:rPr>
              <a:t>1 BCE | 1 CE</a:t>
            </a:r>
            <a:endParaRPr lang="en-US" sz="900" dirty="0"/>
          </a:p>
        </p:txBody>
      </p:sp>
      <p:sp>
        <p:nvSpPr>
          <p:cNvPr id="10" name="Text 8"/>
          <p:cNvSpPr/>
          <p:nvPr/>
        </p:nvSpPr>
        <p:spPr>
          <a:xfrm>
            <a:off x="3462602" y="3456432"/>
            <a:ext cx="822960" cy="274320"/>
          </a:xfrm>
          <a:prstGeom prst="rect">
            <a:avLst/>
          </a:prstGeom>
          <a:noFill/>
          <a:ln/>
        </p:spPr>
        <p:txBody>
          <a:bodyPr wrap="square"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BCE</a:t>
            </a:r>
            <a:endParaRPr lang="en-US" sz="1100" dirty="0"/>
          </a:p>
        </p:txBody>
      </p:sp>
      <p:sp>
        <p:nvSpPr>
          <p:cNvPr id="11" name="Text 9"/>
          <p:cNvSpPr/>
          <p:nvPr/>
        </p:nvSpPr>
        <p:spPr>
          <a:xfrm>
            <a:off x="5017082" y="3456432"/>
            <a:ext cx="822960" cy="274320"/>
          </a:xfrm>
          <a:prstGeom prst="rect">
            <a:avLst/>
          </a:prstGeom>
          <a:noFill/>
          <a:ln/>
        </p:spPr>
        <p:txBody>
          <a:bodyPr wrap="square"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CE</a:t>
            </a:r>
            <a:endParaRPr lang="en-US" sz="1100" dirty="0"/>
          </a:p>
        </p:txBody>
      </p:sp>
      <p:sp>
        <p:nvSpPr>
          <p:cNvPr id="12" name="Shape 10"/>
          <p:cNvSpPr/>
          <p:nvPr/>
        </p:nvSpPr>
        <p:spPr>
          <a:xfrm>
            <a:off x="5321175" y="3593592"/>
            <a:ext cx="128016" cy="128016"/>
          </a:xfrm>
          <a:prstGeom prst="ellipse">
            <a:avLst/>
          </a:prstGeom>
          <a:solidFill>
            <a:srgbClr val="C9A227"/>
          </a:solidFill>
          <a:ln w="12700">
            <a:solidFill>
              <a:srgbClr val="FFFFFF"/>
            </a:solidFill>
            <a:prstDash val="solid"/>
          </a:ln>
        </p:spPr>
      </p:sp>
      <p:sp>
        <p:nvSpPr>
          <p:cNvPr id="13" name="Shape 11"/>
          <p:cNvSpPr/>
          <p:nvPr/>
        </p:nvSpPr>
        <p:spPr>
          <a:xfrm>
            <a:off x="5385183" y="3401568"/>
            <a:ext cx="0" cy="256032"/>
          </a:xfrm>
          <a:prstGeom prst="line">
            <a:avLst/>
          </a:prstGeom>
          <a:noFill/>
          <a:ln w="12700">
            <a:solidFill>
              <a:srgbClr val="C9A227"/>
            </a:solidFill>
            <a:prstDash val="sysDot"/>
          </a:ln>
        </p:spPr>
      </p:sp>
      <p:sp>
        <p:nvSpPr>
          <p:cNvPr id="14" name="Text 12"/>
          <p:cNvSpPr/>
          <p:nvPr/>
        </p:nvSpPr>
        <p:spPr>
          <a:xfrm>
            <a:off x="4607943" y="3090672"/>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Sukkah 52a</a:t>
            </a:r>
            <a:endParaRPr lang="en-US" sz="1100" dirty="0"/>
          </a:p>
        </p:txBody>
      </p:sp>
      <p:sp>
        <p:nvSpPr>
          <p:cNvPr id="15" name="Text 13"/>
          <p:cNvSpPr/>
          <p:nvPr/>
        </p:nvSpPr>
        <p:spPr>
          <a:xfrm>
            <a:off x="4607943" y="2852928"/>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≈150 CE</a:t>
            </a:r>
            <a:endParaRPr lang="en-US" sz="950" dirty="0"/>
          </a:p>
        </p:txBody>
      </p:sp>
      <p:sp>
        <p:nvSpPr>
          <p:cNvPr id="16" name="Shape 14"/>
          <p:cNvSpPr/>
          <p:nvPr/>
        </p:nvSpPr>
        <p:spPr>
          <a:xfrm>
            <a:off x="5826437" y="3593592"/>
            <a:ext cx="128016" cy="128016"/>
          </a:xfrm>
          <a:prstGeom prst="ellipse">
            <a:avLst/>
          </a:prstGeom>
          <a:solidFill>
            <a:srgbClr val="C9A227"/>
          </a:solidFill>
          <a:ln w="12700">
            <a:solidFill>
              <a:srgbClr val="FFFFFF"/>
            </a:solidFill>
            <a:prstDash val="solid"/>
          </a:ln>
        </p:spPr>
      </p:sp>
      <p:sp>
        <p:nvSpPr>
          <p:cNvPr id="17" name="Shape 15"/>
          <p:cNvSpPr/>
          <p:nvPr/>
        </p:nvSpPr>
        <p:spPr>
          <a:xfrm>
            <a:off x="5890445" y="2871216"/>
            <a:ext cx="0" cy="786384"/>
          </a:xfrm>
          <a:prstGeom prst="line">
            <a:avLst/>
          </a:prstGeom>
          <a:noFill/>
          <a:ln w="12700">
            <a:solidFill>
              <a:srgbClr val="C9A227"/>
            </a:solidFill>
            <a:prstDash val="sysDot"/>
          </a:ln>
        </p:spPr>
      </p:sp>
      <p:sp>
        <p:nvSpPr>
          <p:cNvPr id="18" name="Text 16"/>
          <p:cNvSpPr/>
          <p:nvPr/>
        </p:nvSpPr>
        <p:spPr>
          <a:xfrm>
            <a:off x="5113205" y="2560320"/>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Targum Jonathan</a:t>
            </a:r>
            <a:endParaRPr lang="en-US" sz="1100" dirty="0"/>
          </a:p>
        </p:txBody>
      </p:sp>
      <p:sp>
        <p:nvSpPr>
          <p:cNvPr id="19" name="Text 17"/>
          <p:cNvSpPr/>
          <p:nvPr/>
        </p:nvSpPr>
        <p:spPr>
          <a:xfrm>
            <a:off x="5113205" y="2322576"/>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2nd–4th C.</a:t>
            </a:r>
            <a:endParaRPr lang="en-US" sz="950" dirty="0"/>
          </a:p>
        </p:txBody>
      </p:sp>
      <p:sp>
        <p:nvSpPr>
          <p:cNvPr id="20" name="Shape 18"/>
          <p:cNvSpPr/>
          <p:nvPr/>
        </p:nvSpPr>
        <p:spPr>
          <a:xfrm>
            <a:off x="6331698" y="3593592"/>
            <a:ext cx="128016" cy="128016"/>
          </a:xfrm>
          <a:prstGeom prst="ellipse">
            <a:avLst/>
          </a:prstGeom>
          <a:solidFill>
            <a:srgbClr val="C9A227"/>
          </a:solidFill>
          <a:ln w="12700">
            <a:solidFill>
              <a:srgbClr val="FFFFFF"/>
            </a:solidFill>
            <a:prstDash val="solid"/>
          </a:ln>
        </p:spPr>
      </p:sp>
      <p:sp>
        <p:nvSpPr>
          <p:cNvPr id="21" name="Shape 19"/>
          <p:cNvSpPr/>
          <p:nvPr/>
        </p:nvSpPr>
        <p:spPr>
          <a:xfrm>
            <a:off x="6395706" y="2340864"/>
            <a:ext cx="0" cy="1316736"/>
          </a:xfrm>
          <a:prstGeom prst="line">
            <a:avLst/>
          </a:prstGeom>
          <a:noFill/>
          <a:ln w="12700">
            <a:solidFill>
              <a:srgbClr val="C9A227"/>
            </a:solidFill>
            <a:prstDash val="sysDot"/>
          </a:ln>
        </p:spPr>
      </p:sp>
      <p:sp>
        <p:nvSpPr>
          <p:cNvPr id="22" name="Text 20"/>
          <p:cNvSpPr/>
          <p:nvPr/>
        </p:nvSpPr>
        <p:spPr>
          <a:xfrm>
            <a:off x="5618466" y="2029968"/>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Sanhedrin 98a-b</a:t>
            </a:r>
            <a:endParaRPr lang="en-US" sz="1100" dirty="0"/>
          </a:p>
        </p:txBody>
      </p:sp>
      <p:sp>
        <p:nvSpPr>
          <p:cNvPr id="23" name="Text 21"/>
          <p:cNvSpPr/>
          <p:nvPr/>
        </p:nvSpPr>
        <p:spPr>
          <a:xfrm>
            <a:off x="5618466" y="1792224"/>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3rd–6th C.</a:t>
            </a:r>
            <a:endParaRPr lang="en-US" sz="950" dirty="0"/>
          </a:p>
        </p:txBody>
      </p:sp>
      <p:sp>
        <p:nvSpPr>
          <p:cNvPr id="24" name="Shape 22"/>
          <p:cNvSpPr/>
          <p:nvPr/>
        </p:nvSpPr>
        <p:spPr>
          <a:xfrm>
            <a:off x="5651280" y="3593592"/>
            <a:ext cx="128016" cy="128016"/>
          </a:xfrm>
          <a:prstGeom prst="ellipse">
            <a:avLst/>
          </a:prstGeom>
          <a:solidFill>
            <a:srgbClr val="5B7C99"/>
          </a:solidFill>
          <a:ln w="12700">
            <a:solidFill>
              <a:srgbClr val="FFFFFF"/>
            </a:solidFill>
            <a:prstDash val="solid"/>
          </a:ln>
        </p:spPr>
      </p:sp>
      <p:sp>
        <p:nvSpPr>
          <p:cNvPr id="25" name="Shape 23"/>
          <p:cNvSpPr/>
          <p:nvPr/>
        </p:nvSpPr>
        <p:spPr>
          <a:xfrm>
            <a:off x="5715288" y="3657600"/>
            <a:ext cx="0" cy="256032"/>
          </a:xfrm>
          <a:prstGeom prst="line">
            <a:avLst/>
          </a:prstGeom>
          <a:noFill/>
          <a:ln w="12700">
            <a:solidFill>
              <a:srgbClr val="5B7C99"/>
            </a:solidFill>
            <a:prstDash val="sysDot"/>
          </a:ln>
        </p:spPr>
      </p:sp>
      <p:sp>
        <p:nvSpPr>
          <p:cNvPr id="26" name="Text 24"/>
          <p:cNvSpPr/>
          <p:nvPr/>
        </p:nvSpPr>
        <p:spPr>
          <a:xfrm>
            <a:off x="4938048" y="3931920"/>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Origen</a:t>
            </a:r>
            <a:endParaRPr lang="en-US" sz="1100" dirty="0"/>
          </a:p>
        </p:txBody>
      </p:sp>
      <p:sp>
        <p:nvSpPr>
          <p:cNvPr id="27" name="Text 25"/>
          <p:cNvSpPr/>
          <p:nvPr/>
        </p:nvSpPr>
        <p:spPr>
          <a:xfrm>
            <a:off x="4938048" y="4187952"/>
            <a:ext cx="1554480" cy="237744"/>
          </a:xfrm>
          <a:prstGeom prst="rect">
            <a:avLst/>
          </a:prstGeom>
          <a:noFill/>
          <a:ln/>
        </p:spPr>
        <p:txBody>
          <a:bodyPr wrap="square" rtlCol="0" anchor="ctr"/>
          <a:lstStyle/>
          <a:p>
            <a:pPr marL="0" indent="0" algn="ctr">
              <a:buNone/>
            </a:pPr>
            <a:r>
              <a:rPr lang="en-US" sz="950" i="1" dirty="0">
                <a:solidFill>
                  <a:srgbClr val="5B7C99"/>
                </a:solidFill>
                <a:latin typeface="Calibri" pitchFamily="34" charset="0"/>
                <a:ea typeface="Calibri" pitchFamily="34" charset="-122"/>
                <a:cs typeface="Calibri" pitchFamily="34" charset="-120"/>
              </a:rPr>
              <a:t>≈248 CE</a:t>
            </a:r>
            <a:endParaRPr lang="en-US" sz="950" dirty="0"/>
          </a:p>
        </p:txBody>
      </p:sp>
      <p:sp>
        <p:nvSpPr>
          <p:cNvPr id="28" name="Shape 26"/>
          <p:cNvSpPr/>
          <p:nvPr/>
        </p:nvSpPr>
        <p:spPr>
          <a:xfrm>
            <a:off x="7173801" y="3593592"/>
            <a:ext cx="128016" cy="128016"/>
          </a:xfrm>
          <a:prstGeom prst="ellipse">
            <a:avLst/>
          </a:prstGeom>
          <a:solidFill>
            <a:srgbClr val="C9A227"/>
          </a:solidFill>
          <a:ln w="12700">
            <a:solidFill>
              <a:srgbClr val="FFFFFF"/>
            </a:solidFill>
            <a:prstDash val="solid"/>
          </a:ln>
        </p:spPr>
      </p:sp>
      <p:sp>
        <p:nvSpPr>
          <p:cNvPr id="29" name="Shape 27"/>
          <p:cNvSpPr/>
          <p:nvPr/>
        </p:nvSpPr>
        <p:spPr>
          <a:xfrm>
            <a:off x="7237809" y="3657600"/>
            <a:ext cx="0" cy="786384"/>
          </a:xfrm>
          <a:prstGeom prst="line">
            <a:avLst/>
          </a:prstGeom>
          <a:noFill/>
          <a:ln w="12700">
            <a:solidFill>
              <a:srgbClr val="C9A227"/>
            </a:solidFill>
            <a:prstDash val="sysDot"/>
          </a:ln>
        </p:spPr>
      </p:sp>
      <p:sp>
        <p:nvSpPr>
          <p:cNvPr id="30" name="Text 28"/>
          <p:cNvSpPr/>
          <p:nvPr/>
        </p:nvSpPr>
        <p:spPr>
          <a:xfrm>
            <a:off x="6460569" y="4462272"/>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Midrash</a:t>
            </a:r>
            <a:endParaRPr lang="en-US" sz="1100" dirty="0"/>
          </a:p>
        </p:txBody>
      </p:sp>
      <p:sp>
        <p:nvSpPr>
          <p:cNvPr id="31" name="Text 29"/>
          <p:cNvSpPr/>
          <p:nvPr/>
        </p:nvSpPr>
        <p:spPr>
          <a:xfrm>
            <a:off x="6460569" y="4718304"/>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5th–9th C.</a:t>
            </a:r>
            <a:endParaRPr lang="en-US" sz="950" dirty="0"/>
          </a:p>
        </p:txBody>
      </p:sp>
      <p:sp>
        <p:nvSpPr>
          <p:cNvPr id="32" name="Shape 30"/>
          <p:cNvSpPr/>
          <p:nvPr/>
        </p:nvSpPr>
        <p:spPr>
          <a:xfrm>
            <a:off x="8015903" y="3593592"/>
            <a:ext cx="128016" cy="128016"/>
          </a:xfrm>
          <a:prstGeom prst="ellipse">
            <a:avLst/>
          </a:prstGeom>
          <a:solidFill>
            <a:srgbClr val="8A8F98"/>
          </a:solidFill>
          <a:ln w="12700">
            <a:solidFill>
              <a:srgbClr val="FFFFFF"/>
            </a:solidFill>
            <a:prstDash val="solid"/>
          </a:ln>
        </p:spPr>
      </p:sp>
      <p:sp>
        <p:nvSpPr>
          <p:cNvPr id="33" name="Shape 31"/>
          <p:cNvSpPr/>
          <p:nvPr/>
        </p:nvSpPr>
        <p:spPr>
          <a:xfrm>
            <a:off x="8079911" y="3401568"/>
            <a:ext cx="0" cy="256032"/>
          </a:xfrm>
          <a:prstGeom prst="line">
            <a:avLst/>
          </a:prstGeom>
          <a:noFill/>
          <a:ln w="12700">
            <a:solidFill>
              <a:srgbClr val="8A8F98"/>
            </a:solidFill>
            <a:prstDash val="sysDot"/>
          </a:ln>
        </p:spPr>
      </p:sp>
      <p:sp>
        <p:nvSpPr>
          <p:cNvPr id="34" name="Text 32"/>
          <p:cNvSpPr/>
          <p:nvPr/>
        </p:nvSpPr>
        <p:spPr>
          <a:xfrm>
            <a:off x="7302671" y="3090672"/>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Saadia Gaon</a:t>
            </a:r>
            <a:endParaRPr lang="en-US" sz="1100" dirty="0"/>
          </a:p>
        </p:txBody>
      </p:sp>
      <p:sp>
        <p:nvSpPr>
          <p:cNvPr id="35" name="Text 33"/>
          <p:cNvSpPr/>
          <p:nvPr/>
        </p:nvSpPr>
        <p:spPr>
          <a:xfrm>
            <a:off x="7302671" y="2852928"/>
            <a:ext cx="1554480" cy="237744"/>
          </a:xfrm>
          <a:prstGeom prst="rect">
            <a:avLst/>
          </a:prstGeom>
          <a:noFill/>
          <a:ln/>
        </p:spPr>
        <p:txBody>
          <a:bodyPr wrap="square" rtlCol="0" anchor="ctr"/>
          <a:lstStyle/>
          <a:p>
            <a:pPr marL="0" indent="0" algn="ctr">
              <a:buNone/>
            </a:pPr>
            <a:r>
              <a:rPr lang="en-US" sz="950" i="1" dirty="0">
                <a:solidFill>
                  <a:srgbClr val="8A8F98"/>
                </a:solidFill>
                <a:latin typeface="Calibri" pitchFamily="34" charset="0"/>
                <a:ea typeface="Calibri" pitchFamily="34" charset="-122"/>
                <a:cs typeface="Calibri" pitchFamily="34" charset="-120"/>
              </a:rPr>
              <a:t>10th C.</a:t>
            </a:r>
            <a:endParaRPr lang="en-US" sz="950" dirty="0"/>
          </a:p>
        </p:txBody>
      </p:sp>
      <p:sp>
        <p:nvSpPr>
          <p:cNvPr id="36" name="Shape 34"/>
          <p:cNvSpPr/>
          <p:nvPr/>
        </p:nvSpPr>
        <p:spPr>
          <a:xfrm>
            <a:off x="8554849" y="3593592"/>
            <a:ext cx="128016" cy="128016"/>
          </a:xfrm>
          <a:prstGeom prst="ellipse">
            <a:avLst/>
          </a:prstGeom>
          <a:solidFill>
            <a:srgbClr val="5B7C99"/>
          </a:solidFill>
          <a:ln w="12700">
            <a:solidFill>
              <a:srgbClr val="FFFFFF"/>
            </a:solidFill>
            <a:prstDash val="solid"/>
          </a:ln>
        </p:spPr>
      </p:sp>
      <p:sp>
        <p:nvSpPr>
          <p:cNvPr id="37" name="Shape 35"/>
          <p:cNvSpPr/>
          <p:nvPr/>
        </p:nvSpPr>
        <p:spPr>
          <a:xfrm>
            <a:off x="8618857" y="3657600"/>
            <a:ext cx="0" cy="256032"/>
          </a:xfrm>
          <a:prstGeom prst="line">
            <a:avLst/>
          </a:prstGeom>
          <a:noFill/>
          <a:ln w="12700">
            <a:solidFill>
              <a:srgbClr val="5B7C99"/>
            </a:solidFill>
            <a:prstDash val="sysDot"/>
          </a:ln>
        </p:spPr>
      </p:sp>
      <p:sp>
        <p:nvSpPr>
          <p:cNvPr id="38" name="Text 36"/>
          <p:cNvSpPr/>
          <p:nvPr/>
        </p:nvSpPr>
        <p:spPr>
          <a:xfrm>
            <a:off x="7841617" y="3931920"/>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Rashi &amp; Ibn Ezra</a:t>
            </a:r>
            <a:endParaRPr lang="en-US" sz="1100" dirty="0"/>
          </a:p>
        </p:txBody>
      </p:sp>
      <p:sp>
        <p:nvSpPr>
          <p:cNvPr id="39" name="Text 37"/>
          <p:cNvSpPr/>
          <p:nvPr/>
        </p:nvSpPr>
        <p:spPr>
          <a:xfrm>
            <a:off x="7841617" y="4187952"/>
            <a:ext cx="1554480" cy="237744"/>
          </a:xfrm>
          <a:prstGeom prst="rect">
            <a:avLst/>
          </a:prstGeom>
          <a:noFill/>
          <a:ln/>
        </p:spPr>
        <p:txBody>
          <a:bodyPr wrap="square" rtlCol="0" anchor="ctr"/>
          <a:lstStyle/>
          <a:p>
            <a:pPr marL="0" indent="0" algn="ctr">
              <a:buNone/>
            </a:pPr>
            <a:r>
              <a:rPr lang="en-US" sz="950" i="1" dirty="0">
                <a:solidFill>
                  <a:srgbClr val="5B7C99"/>
                </a:solidFill>
                <a:latin typeface="Calibri" pitchFamily="34" charset="0"/>
                <a:ea typeface="Calibri" pitchFamily="34" charset="-122"/>
                <a:cs typeface="Calibri" pitchFamily="34" charset="-120"/>
              </a:rPr>
              <a:t>11th–12th C.</a:t>
            </a:r>
            <a:endParaRPr lang="en-US" sz="950" dirty="0"/>
          </a:p>
        </p:txBody>
      </p:sp>
      <p:sp>
        <p:nvSpPr>
          <p:cNvPr id="40" name="Shape 38"/>
          <p:cNvSpPr/>
          <p:nvPr/>
        </p:nvSpPr>
        <p:spPr>
          <a:xfrm>
            <a:off x="8959058" y="3593592"/>
            <a:ext cx="128016" cy="128016"/>
          </a:xfrm>
          <a:prstGeom prst="ellipse">
            <a:avLst/>
          </a:prstGeom>
          <a:solidFill>
            <a:srgbClr val="C9A227"/>
          </a:solidFill>
          <a:ln w="12700">
            <a:solidFill>
              <a:srgbClr val="FFFFFF"/>
            </a:solidFill>
            <a:prstDash val="solid"/>
          </a:ln>
        </p:spPr>
      </p:sp>
      <p:sp>
        <p:nvSpPr>
          <p:cNvPr id="41" name="Shape 39"/>
          <p:cNvSpPr/>
          <p:nvPr/>
        </p:nvSpPr>
        <p:spPr>
          <a:xfrm>
            <a:off x="9023066" y="2871216"/>
            <a:ext cx="0" cy="786384"/>
          </a:xfrm>
          <a:prstGeom prst="line">
            <a:avLst/>
          </a:prstGeom>
          <a:noFill/>
          <a:ln w="12700">
            <a:solidFill>
              <a:srgbClr val="C9A227"/>
            </a:solidFill>
            <a:prstDash val="sysDot"/>
          </a:ln>
        </p:spPr>
      </p:sp>
      <p:sp>
        <p:nvSpPr>
          <p:cNvPr id="42" name="Text 40"/>
          <p:cNvSpPr/>
          <p:nvPr/>
        </p:nvSpPr>
        <p:spPr>
          <a:xfrm>
            <a:off x="8245826" y="2560320"/>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Radak &amp; Nachmanides</a:t>
            </a:r>
            <a:endParaRPr lang="en-US" sz="1100" dirty="0"/>
          </a:p>
        </p:txBody>
      </p:sp>
      <p:sp>
        <p:nvSpPr>
          <p:cNvPr id="43" name="Text 41"/>
          <p:cNvSpPr/>
          <p:nvPr/>
        </p:nvSpPr>
        <p:spPr>
          <a:xfrm>
            <a:off x="8245826" y="2322576"/>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12th–13th C.</a:t>
            </a:r>
            <a:endParaRPr lang="en-US" sz="950" dirty="0"/>
          </a:p>
        </p:txBody>
      </p:sp>
      <p:sp>
        <p:nvSpPr>
          <p:cNvPr id="44" name="Shape 42"/>
          <p:cNvSpPr/>
          <p:nvPr/>
        </p:nvSpPr>
        <p:spPr>
          <a:xfrm>
            <a:off x="10036949" y="3593592"/>
            <a:ext cx="128016" cy="128016"/>
          </a:xfrm>
          <a:prstGeom prst="ellipse">
            <a:avLst/>
          </a:prstGeom>
          <a:solidFill>
            <a:srgbClr val="C9A227"/>
          </a:solidFill>
          <a:ln w="12700">
            <a:solidFill>
              <a:srgbClr val="FFFFFF"/>
            </a:solidFill>
            <a:prstDash val="solid"/>
          </a:ln>
        </p:spPr>
      </p:sp>
      <p:sp>
        <p:nvSpPr>
          <p:cNvPr id="45" name="Shape 43"/>
          <p:cNvSpPr/>
          <p:nvPr/>
        </p:nvSpPr>
        <p:spPr>
          <a:xfrm>
            <a:off x="10100957" y="3401568"/>
            <a:ext cx="0" cy="256032"/>
          </a:xfrm>
          <a:prstGeom prst="line">
            <a:avLst/>
          </a:prstGeom>
          <a:noFill/>
          <a:ln w="12700">
            <a:solidFill>
              <a:srgbClr val="C9A227"/>
            </a:solidFill>
            <a:prstDash val="sysDot"/>
          </a:ln>
        </p:spPr>
      </p:sp>
      <p:sp>
        <p:nvSpPr>
          <p:cNvPr id="46" name="Text 44"/>
          <p:cNvSpPr/>
          <p:nvPr/>
        </p:nvSpPr>
        <p:spPr>
          <a:xfrm>
            <a:off x="9323717" y="3090672"/>
            <a:ext cx="15544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Alshech</a:t>
            </a:r>
            <a:endParaRPr lang="en-US" sz="1100" dirty="0"/>
          </a:p>
        </p:txBody>
      </p:sp>
      <p:sp>
        <p:nvSpPr>
          <p:cNvPr id="47" name="Text 45"/>
          <p:cNvSpPr/>
          <p:nvPr/>
        </p:nvSpPr>
        <p:spPr>
          <a:xfrm>
            <a:off x="9323717" y="2852928"/>
            <a:ext cx="1554480" cy="237744"/>
          </a:xfrm>
          <a:prstGeom prst="rect">
            <a:avLst/>
          </a:prstGeom>
          <a:noFill/>
          <a:ln/>
        </p:spPr>
        <p:txBody>
          <a:bodyPr wrap="square" rtlCol="0" anchor="ctr"/>
          <a:lstStyle/>
          <a:p>
            <a:pPr marL="0" indent="0" algn="ctr">
              <a:buNone/>
            </a:pPr>
            <a:r>
              <a:rPr lang="en-US" sz="950" i="1" dirty="0">
                <a:solidFill>
                  <a:srgbClr val="C9A227"/>
                </a:solidFill>
                <a:latin typeface="Calibri" pitchFamily="34" charset="0"/>
                <a:ea typeface="Calibri" pitchFamily="34" charset="-122"/>
                <a:cs typeface="Calibri" pitchFamily="34" charset="-120"/>
              </a:rPr>
              <a:t>16th C.</a:t>
            </a:r>
            <a:endParaRPr lang="en-US" sz="950" dirty="0"/>
          </a:p>
        </p:txBody>
      </p:sp>
      <p:sp>
        <p:nvSpPr>
          <p:cNvPr id="48" name="Text 46"/>
          <p:cNvSpPr/>
          <p:nvPr/>
        </p:nvSpPr>
        <p:spPr>
          <a:xfrm>
            <a:off x="731520" y="5870448"/>
            <a:ext cx="10698480" cy="411480"/>
          </a:xfrm>
          <a:prstGeom prst="rect">
            <a:avLst/>
          </a:prstGeom>
          <a:noFill/>
          <a:ln/>
        </p:spPr>
        <p:txBody>
          <a:bodyPr wrap="square" rtlCol="0" anchor="ctr"/>
          <a:lstStyle/>
          <a:p>
            <a:pPr marL="0" indent="0" algn="ctr">
              <a:buNone/>
            </a:pPr>
            <a:r>
              <a:rPr lang="en-US" sz="1500" i="1" dirty="0">
                <a:solidFill>
                  <a:srgbClr val="FFFFFF"/>
                </a:solidFill>
                <a:latin typeface="Calibri" pitchFamily="34" charset="0"/>
                <a:ea typeface="Calibri" pitchFamily="34" charset="-122"/>
                <a:cs typeface="Calibri" pitchFamily="34" charset="-120"/>
              </a:rPr>
              <a:t>Gold = messianic reading    ·    Teal = national reading    ·    Gray = third option</a:t>
            </a:r>
            <a:endParaRPr lang="en-US" sz="1500" dirty="0"/>
          </a:p>
        </p:txBody>
      </p:sp>
      <p:sp>
        <p:nvSpPr>
          <p:cNvPr id="49" name="Text 47"/>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FFFFFF"/>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5312031"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~150 CE</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Before 200 CE · Tannaitic tradition, Sukkah 52a</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~1,500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earliest layer: a live dispute, not a denial</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The rabbis debate what Zechariah means when it says Israel will mourn for someone who was “pierced.” Rabbi Dosa holds that it refers to the Messiah, who is slain. The other sages hold that it refers to the “evil inclination,” destroyed. They disagree on the details. Neither side, however, disputes that a slain Messiah is a coherent category — it is already present at the oldest layer of rabbinic discussion on record.</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5817293"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2nd–4th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Targum Jonathan · Oldest Jewish translation of Isaiah</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~1,600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“Behold, my servant the Messiah”</a:t>
            </a:r>
            <a:endParaRPr lang="en-US" sz="3800" dirty="0"/>
          </a:p>
        </p:txBody>
      </p:sp>
      <p:sp>
        <p:nvSpPr>
          <p:cNvPr id="11" name="Text 9"/>
          <p:cNvSpPr/>
          <p:nvPr/>
        </p:nvSpPr>
        <p:spPr>
          <a:xfrm>
            <a:off x="457200" y="2743200"/>
            <a:ext cx="11247120" cy="1965960"/>
          </a:xfrm>
          <a:prstGeom prst="rect">
            <a:avLst/>
          </a:prstGeom>
          <a:noFill/>
          <a:ln/>
        </p:spPr>
        <p:txBody>
          <a:bodyPr wrap="square" rtlCol="0" anchor="t"/>
          <a:lstStyle/>
          <a:p>
            <a:pPr marL="0" indent="0">
              <a:lnSpc>
                <a:spcPct val="128000"/>
              </a:lnSpc>
              <a:buNone/>
            </a:pPr>
            <a:r>
              <a:rPr lang="en-US" sz="1900" dirty="0">
                <a:solidFill>
                  <a:srgbClr val="33394A"/>
                </a:solidFill>
                <a:latin typeface="Calibri" pitchFamily="34" charset="0"/>
                <a:ea typeface="Calibri" pitchFamily="34" charset="-122"/>
                <a:cs typeface="Calibri" pitchFamily="34" charset="-120"/>
              </a:rPr>
              <a:t>This is the oldest Jewish translation of the Book of Isaiah that survives. It renders the opening line of our passage as follows:</a:t>
            </a:r>
            <a:endParaRPr lang="en-US" sz="1900" dirty="0"/>
          </a:p>
        </p:txBody>
      </p:sp>
      <p:sp>
        <p:nvSpPr>
          <p:cNvPr id="12" name="Shape 10"/>
          <p:cNvSpPr/>
          <p:nvPr/>
        </p:nvSpPr>
        <p:spPr>
          <a:xfrm>
            <a:off x="457200" y="4846320"/>
            <a:ext cx="11247120" cy="1463040"/>
          </a:xfrm>
          <a:prstGeom prst="rect">
            <a:avLst/>
          </a:prstGeom>
          <a:solidFill>
            <a:srgbClr val="F4F5F8"/>
          </a:solidFill>
          <a:ln/>
        </p:spPr>
      </p:sp>
      <p:sp>
        <p:nvSpPr>
          <p:cNvPr id="13" name="Text 11"/>
          <p:cNvSpPr/>
          <p:nvPr/>
        </p:nvSpPr>
        <p:spPr>
          <a:xfrm>
            <a:off x="822960" y="4956048"/>
            <a:ext cx="10515600" cy="1234440"/>
          </a:xfrm>
          <a:prstGeom prst="rect">
            <a:avLst/>
          </a:prstGeom>
          <a:noFill/>
          <a:ln/>
        </p:spPr>
        <p:txBody>
          <a:bodyPr wrap="square" rtlCol="0" anchor="ctr"/>
          <a:lstStyle/>
          <a:p>
            <a:pPr marL="0" indent="0">
              <a:lnSpc>
                <a:spcPct val="122000"/>
              </a:lnSpc>
              <a:buNone/>
            </a:pPr>
            <a:r>
              <a:rPr lang="en-US" sz="2000" i="1" dirty="0">
                <a:solidFill>
                  <a:srgbClr val="1E2761"/>
                </a:solidFill>
                <a:latin typeface="Cambria" pitchFamily="34" charset="0"/>
                <a:ea typeface="Cambria" pitchFamily="34" charset="-122"/>
                <a:cs typeface="Cambria" pitchFamily="34" charset="-120"/>
              </a:rPr>
              <a:t>“Behold, my servant the Messiah shall prosper.” (Targum Jonathan, Isaiah 52:13)</a:t>
            </a:r>
            <a:endParaRPr lang="en-US" sz="2000" dirty="0"/>
          </a:p>
          <a:p>
            <a:pPr marL="0" indent="0">
              <a:lnSpc>
                <a:spcPct val="122000"/>
              </a:lnSpc>
              <a:buNone/>
            </a:pPr>
            <a:endParaRPr lang="en-US" sz="2000" dirty="0"/>
          </a:p>
          <a:p>
            <a:pPr marL="0" indent="0">
              <a:lnSpc>
                <a:spcPct val="122000"/>
              </a:lnSpc>
              <a:buNone/>
            </a:pPr>
            <a:r>
              <a:rPr lang="en-US" sz="2000" i="1" dirty="0">
                <a:solidFill>
                  <a:srgbClr val="1E2761"/>
                </a:solidFill>
                <a:latin typeface="Cambria" pitchFamily="34" charset="0"/>
                <a:ea typeface="Cambria" pitchFamily="34" charset="-122"/>
                <a:cs typeface="Cambria" pitchFamily="34" charset="-120"/>
              </a:rPr>
              <a:t>The servant is identified as an individual, the Messiah — not a nation, and not a metaphor.</a:t>
            </a:r>
            <a:endParaRPr lang="en-US" sz="2000" dirty="0"/>
          </a:p>
        </p:txBody>
      </p:sp>
      <p:sp>
        <p:nvSpPr>
          <p:cNvPr id="14" name="Text 12"/>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6322554"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3rd–6th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Talmud, Sanhedrin 98a–98b</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~1,750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Messiah, pictured in the Servant's own words</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The sages describe the Messiah sitting among the sick and the afflicted, using language drawn directly from Isaiah 53. By this point, the chapter and the figure of the Messiah are already linked in rabbinic literature, centuries before the medieval period.</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7164657"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5th–9th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Midrash · Ruth Rabbah, Pesikta Rabbati, Numbers Rabbah</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~2,000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reading continues, unbroken</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Across several major midrashic collections from this period, Isaiah 53 continues to be applied to the Messiah. This is not an isolated reference. It is the consistent reading for roughly the first thousand years of rabbinic engagement with this text.</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8006759" y="429768"/>
            <a:ext cx="146304" cy="146304"/>
          </a:xfrm>
          <a:prstGeom prst="ellipse">
            <a:avLst/>
          </a:prstGeom>
          <a:solidFill>
            <a:srgbClr val="8A8F98"/>
          </a:solidFill>
          <a:ln w="19050">
            <a:solidFill>
              <a:srgbClr val="FFFFFF"/>
            </a:solidFill>
            <a:prstDash val="solid"/>
          </a:ln>
        </p:spPr>
      </p:sp>
      <p:sp>
        <p:nvSpPr>
          <p:cNvPr id="6" name="Shape 4"/>
          <p:cNvSpPr/>
          <p:nvPr/>
        </p:nvSpPr>
        <p:spPr>
          <a:xfrm>
            <a:off x="457200" y="960120"/>
            <a:ext cx="2286000" cy="420624"/>
          </a:xfrm>
          <a:prstGeom prst="rect">
            <a:avLst/>
          </a:prstGeom>
          <a:solidFill>
            <a:srgbClr val="8A8F98"/>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10th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Rabbi Saadia Gaon</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8A8F98"/>
                </a:solidFill>
                <a:latin typeface="Cambria" pitchFamily="34" charset="0"/>
                <a:ea typeface="Cambria" pitchFamily="34" charset="-122"/>
                <a:cs typeface="Cambria" pitchFamily="34" charset="-120"/>
              </a:rPr>
              <a:t>~2,250 years</a:t>
            </a:r>
            <a:endParaRPr lang="en-US" sz="1800" dirty="0"/>
          </a:p>
          <a:p>
            <a:pPr marL="0" indent="0" algn="r">
              <a:buNone/>
            </a:pPr>
            <a:r>
              <a:rPr lang="en-US" sz="1800" b="1" i="1" dirty="0">
                <a:solidFill>
                  <a:srgbClr val="8A8F98"/>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A third option appears — but not the national one</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Saadia Gaon departs from both later camps. He reads the servant as an individual, but identifies him as the prophet Jeremiah rather than the Messiah. This reading did not gain wide acceptance. It does, however, establish that a full millennium after the Talmud, the identity of the servant remained an open question, and the national reading had still not become the accepted answer.</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8848862"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12th–13th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Radak (David Kimchi), Metzudot, Malbim</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~2,500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Even inside the “national reading” camp — disagreement</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Radak is typically grouped with Rashi and Ibn Ezra as one of the three principal authorities behind the national reading. On Isaiah 42, however, Radak departs from them and reads the servant as the Messiah. On chapter 53 itself, his commentary does not fully commit to one view: he states that the servant may be “the righteous of the generation, or the Messiah.” The Metzudot and the Malbim likewise read Isaiah 42's servant as the Messiah.</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9050966"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13th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Nachmanides (Ramban) · and Maimonides</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~2,550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A public statement made under duress</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In his own writings, Nachmanides connects the servant to the Messiah. In 1263, however, at the Barcelona Disputation, he was compelled to publicly defend the national reading instead, before a hostile royal court, with real consequences for his community. Historians do not treat that statement as neutral scholarship; it was made under coercion. Maimonides, in some traditions, is likewise credited with retaining the older, Messiah-linked reading.</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10027805" y="429768"/>
            <a:ext cx="146304" cy="146304"/>
          </a:xfrm>
          <a:prstGeom prst="ellipse">
            <a:avLst/>
          </a:prstGeom>
          <a:solidFill>
            <a:srgbClr val="C9A227"/>
          </a:solidFill>
          <a:ln w="19050">
            <a:solidFill>
              <a:srgbClr val="FFFFFF"/>
            </a:solidFill>
            <a:prstDash val="solid"/>
          </a:ln>
        </p:spPr>
      </p:sp>
      <p:sp>
        <p:nvSpPr>
          <p:cNvPr id="6" name="Shape 4"/>
          <p:cNvSpPr/>
          <p:nvPr/>
        </p:nvSpPr>
        <p:spPr>
          <a:xfrm>
            <a:off x="457200" y="960120"/>
            <a:ext cx="2286000" cy="420624"/>
          </a:xfrm>
          <a:prstGeom prst="rect">
            <a:avLst/>
          </a:prstGeom>
          <a:solidFill>
            <a:srgbClr val="C9A227"/>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16th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Rabbi Moshe Alshech</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C9A227"/>
                </a:solidFill>
                <a:latin typeface="Cambria" pitchFamily="34" charset="0"/>
                <a:ea typeface="Cambria" pitchFamily="34" charset="-122"/>
                <a:cs typeface="Cambria" pitchFamily="34" charset="-120"/>
              </a:rPr>
              <a:t>~2,850 years</a:t>
            </a:r>
            <a:endParaRPr lang="en-US" sz="1800" dirty="0"/>
          </a:p>
          <a:p>
            <a:pPr marL="0" indent="0" algn="r">
              <a:buNone/>
            </a:pPr>
            <a:r>
              <a:rPr lang="en-US" sz="1800" b="1" i="1" dirty="0">
                <a:solidFill>
                  <a:srgbClr val="C9A227"/>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“With one voice” — five centuries after Rashi</a:t>
            </a:r>
            <a:endParaRPr lang="en-US" sz="3800" dirty="0"/>
          </a:p>
        </p:txBody>
      </p:sp>
      <p:sp>
        <p:nvSpPr>
          <p:cNvPr id="11" name="Text 9"/>
          <p:cNvSpPr/>
          <p:nvPr/>
        </p:nvSpPr>
        <p:spPr>
          <a:xfrm>
            <a:off x="457200" y="2743200"/>
            <a:ext cx="11247120" cy="1965960"/>
          </a:xfrm>
          <a:prstGeom prst="rect">
            <a:avLst/>
          </a:prstGeom>
          <a:noFill/>
          <a:ln/>
        </p:spPr>
        <p:txBody>
          <a:bodyPr wrap="square" rtlCol="0" anchor="t"/>
          <a:lstStyle/>
          <a:p>
            <a:pPr marL="0" indent="0">
              <a:lnSpc>
                <a:spcPct val="128000"/>
              </a:lnSpc>
              <a:buNone/>
            </a:pPr>
            <a:r>
              <a:rPr lang="en-US" sz="1900" dirty="0">
                <a:solidFill>
                  <a:srgbClr val="33394A"/>
                </a:solidFill>
                <a:latin typeface="Calibri" pitchFamily="34" charset="0"/>
                <a:ea typeface="Calibri" pitchFamily="34" charset="-122"/>
                <a:cs typeface="Calibri" pitchFamily="34" charset="-120"/>
              </a:rPr>
              <a:t>Writing five hundred years after Rashi, Alshech states the tradition plainly. On Zechariah 12:10, he goes further, describing Messiah ben Joseph as one who takes on Israel's guilt and is slain to atone for it, “as if Israel had pierced him.” This is vicarious, substitutionary language, from a rabbi writing five centuries into the period in which the national reading had become dominant.</a:t>
            </a:r>
            <a:endParaRPr lang="en-US" sz="1900" dirty="0"/>
          </a:p>
        </p:txBody>
      </p:sp>
      <p:sp>
        <p:nvSpPr>
          <p:cNvPr id="12" name="Shape 10"/>
          <p:cNvSpPr/>
          <p:nvPr/>
        </p:nvSpPr>
        <p:spPr>
          <a:xfrm>
            <a:off x="457200" y="4846320"/>
            <a:ext cx="11247120" cy="1463040"/>
          </a:xfrm>
          <a:prstGeom prst="rect">
            <a:avLst/>
          </a:prstGeom>
          <a:solidFill>
            <a:srgbClr val="F4F5F8"/>
          </a:solidFill>
          <a:ln/>
        </p:spPr>
      </p:sp>
      <p:sp>
        <p:nvSpPr>
          <p:cNvPr id="13" name="Text 11"/>
          <p:cNvSpPr/>
          <p:nvPr/>
        </p:nvSpPr>
        <p:spPr>
          <a:xfrm>
            <a:off x="822960" y="4956048"/>
            <a:ext cx="10515600" cy="1234440"/>
          </a:xfrm>
          <a:prstGeom prst="rect">
            <a:avLst/>
          </a:prstGeom>
          <a:noFill/>
          <a:ln/>
        </p:spPr>
        <p:txBody>
          <a:bodyPr wrap="square" rtlCol="0" anchor="ctr"/>
          <a:lstStyle/>
          <a:p>
            <a:pPr marL="0" indent="0">
              <a:lnSpc>
                <a:spcPct val="122000"/>
              </a:lnSpc>
              <a:buNone/>
            </a:pPr>
            <a:r>
              <a:rPr lang="en-US" sz="2000" i="1" dirty="0">
                <a:solidFill>
                  <a:srgbClr val="1E2761"/>
                </a:solidFill>
                <a:latin typeface="Cambria" pitchFamily="34" charset="0"/>
                <a:ea typeface="Cambria" pitchFamily="34" charset="-122"/>
                <a:cs typeface="Cambria" pitchFamily="34" charset="-120"/>
              </a:rPr>
              <a:t>“Our Rabbis with one voice accept and affirm the opinion that the prophet is speaking of the Messiah.” (Rabbi Moshe Alshech)</a:t>
            </a:r>
            <a:endParaRPr lang="en-US" sz="2000" dirty="0"/>
          </a:p>
        </p:txBody>
      </p:sp>
      <p:sp>
        <p:nvSpPr>
          <p:cNvPr id="14" name="Text 12"/>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2331720"/>
            <a:ext cx="1069848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ORIGIN OF THE NATIONAL READING</a:t>
            </a:r>
            <a:endParaRPr lang="en-US" sz="4000" dirty="0"/>
          </a:p>
        </p:txBody>
      </p:sp>
      <p:sp>
        <p:nvSpPr>
          <p:cNvPr id="3" name="Shape 1"/>
          <p:cNvSpPr/>
          <p:nvPr/>
        </p:nvSpPr>
        <p:spPr>
          <a:xfrm>
            <a:off x="777240" y="3520440"/>
            <a:ext cx="2011680" cy="0"/>
          </a:xfrm>
          <a:prstGeom prst="line">
            <a:avLst/>
          </a:prstGeom>
          <a:noFill/>
          <a:ln w="38100">
            <a:solidFill>
              <a:srgbClr val="5B7C99"/>
            </a:solidFill>
            <a:prstDash val="solid"/>
          </a:ln>
        </p:spPr>
      </p:sp>
      <p:sp>
        <p:nvSpPr>
          <p:cNvPr id="4" name="Text 2"/>
          <p:cNvSpPr/>
          <p:nvPr/>
        </p:nvSpPr>
        <p:spPr>
          <a:xfrm>
            <a:off x="731520" y="3749040"/>
            <a:ext cx="10058400" cy="640080"/>
          </a:xfrm>
          <a:prstGeom prst="rect">
            <a:avLst/>
          </a:prstGeom>
          <a:noFill/>
          <a:ln/>
        </p:spPr>
        <p:txBody>
          <a:bodyPr wrap="square" rtlCol="0" anchor="ctr"/>
          <a:lstStyle/>
          <a:p>
            <a:pPr marL="0" indent="0">
              <a:buNone/>
            </a:pPr>
            <a:r>
              <a:rPr lang="en-US" sz="2100" i="1" dirty="0">
                <a:solidFill>
                  <a:srgbClr val="FFFFFF"/>
                </a:solidFill>
                <a:latin typeface="Calibri" pitchFamily="34" charset="0"/>
                <a:ea typeface="Calibri" pitchFamily="34" charset="-122"/>
                <a:cs typeface="Calibri" pitchFamily="34" charset="-120"/>
              </a:rPr>
              <a:t>Two names, two dates, eight centuries apart, both later than the messianic reading already on record.</a:t>
            </a:r>
            <a:endParaRPr lang="en-US" sz="21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FFFFFF"/>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5642136" y="429768"/>
            <a:ext cx="146304" cy="146304"/>
          </a:xfrm>
          <a:prstGeom prst="ellipse">
            <a:avLst/>
          </a:prstGeom>
          <a:solidFill>
            <a:srgbClr val="5B7C99"/>
          </a:solidFill>
          <a:ln w="19050">
            <a:solidFill>
              <a:srgbClr val="FFFFFF"/>
            </a:solidFill>
            <a:prstDash val="solid"/>
          </a:ln>
        </p:spPr>
      </p:sp>
      <p:sp>
        <p:nvSpPr>
          <p:cNvPr id="6" name="Shape 4"/>
          <p:cNvSpPr/>
          <p:nvPr/>
        </p:nvSpPr>
        <p:spPr>
          <a:xfrm>
            <a:off x="457200" y="960120"/>
            <a:ext cx="2286000" cy="420624"/>
          </a:xfrm>
          <a:prstGeom prst="rect">
            <a:avLst/>
          </a:prstGeom>
          <a:solidFill>
            <a:srgbClr val="5B7C99"/>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~248 CE</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Origen, Contra Celsum: earliest hard evidence for the national reading</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5B7C99"/>
                </a:solidFill>
                <a:latin typeface="Cambria" pitchFamily="34" charset="0"/>
                <a:ea typeface="Cambria" pitchFamily="34" charset="-122"/>
                <a:cs typeface="Cambria" pitchFamily="34" charset="-120"/>
              </a:rPr>
              <a:t>~1,560 years</a:t>
            </a:r>
            <a:endParaRPr lang="en-US" sz="1800" dirty="0"/>
          </a:p>
          <a:p>
            <a:pPr marL="0" indent="0" algn="r">
              <a:buNone/>
            </a:pPr>
            <a:r>
              <a:rPr lang="en-US" sz="1800" b="1" i="1" dirty="0">
                <a:solidFill>
                  <a:srgbClr val="5B7C99"/>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national reading's oldest attestation</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A Christian writer records a debate with Jewish scholars who tell him the servant represents the whole Jewish people, scattered among the nations. This account is early, corresponding chronologically to the Talmudic material already discussed. It remains, however, a single report of an oral exchange, not yet the dominant Jewish position, and still eight centuries before it becomes one.</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8427810" y="429768"/>
            <a:ext cx="146304" cy="146304"/>
          </a:xfrm>
          <a:prstGeom prst="ellipse">
            <a:avLst/>
          </a:prstGeom>
          <a:solidFill>
            <a:srgbClr val="5B7C99"/>
          </a:solidFill>
          <a:ln w="19050">
            <a:solidFill>
              <a:srgbClr val="FFFFFF"/>
            </a:solidFill>
            <a:prstDash val="solid"/>
          </a:ln>
        </p:spPr>
      </p:sp>
      <p:sp>
        <p:nvSpPr>
          <p:cNvPr id="6" name="Shape 4"/>
          <p:cNvSpPr/>
          <p:nvPr/>
        </p:nvSpPr>
        <p:spPr>
          <a:xfrm>
            <a:off x="457200" y="960120"/>
            <a:ext cx="2286000" cy="420624"/>
          </a:xfrm>
          <a:prstGeom prst="rect">
            <a:avLst/>
          </a:prstGeom>
          <a:solidFill>
            <a:srgbClr val="5B7C99"/>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11th C.</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Rashi</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5B7C99"/>
                </a:solidFill>
                <a:latin typeface="Cambria" pitchFamily="34" charset="0"/>
                <a:ea typeface="Cambria" pitchFamily="34" charset="-122"/>
                <a:cs typeface="Cambria" pitchFamily="34" charset="-120"/>
              </a:rPr>
              <a:t>~2,350 years</a:t>
            </a:r>
            <a:endParaRPr lang="en-US" sz="1800" dirty="0"/>
          </a:p>
          <a:p>
            <a:pPr marL="0" indent="0" algn="r">
              <a:buNone/>
            </a:pPr>
            <a:r>
              <a:rPr lang="en-US" sz="1800" b="1" i="1" dirty="0">
                <a:solidFill>
                  <a:srgbClr val="5B7C99"/>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reading that actually becomes dominant</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This is the turning point. Rashi, writing in medieval France after the First Crusade, is the figure who establishes the national reading as the mainstream Jewish position. It is worth noting that even Rashi's reading does not eliminate the idea of vicarious suffering; it relocates it. In his interpretation, Israel suffers on behalf of the nations of the world, rather than one individual suffering on behalf of Israel. The substitutionary structure of the text remains. Only the identity of the sufferer changes.</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11247120" cy="0"/>
          </a:xfrm>
          <a:prstGeom prst="line">
            <a:avLst/>
          </a:prstGeom>
          <a:noFill/>
          <a:ln w="25400">
            <a:solidFill>
              <a:srgbClr val="D8DCE6"/>
            </a:solidFill>
            <a:prstDash val="solid"/>
          </a:ln>
        </p:spPr>
      </p:sp>
      <p:sp>
        <p:nvSpPr>
          <p:cNvPr id="3" name="Text 1"/>
          <p:cNvSpPr/>
          <p:nvPr/>
        </p:nvSpPr>
        <p:spPr>
          <a:xfrm>
            <a:off x="411480" y="585216"/>
            <a:ext cx="1097280" cy="274320"/>
          </a:xfrm>
          <a:prstGeom prst="rect">
            <a:avLst/>
          </a:prstGeom>
          <a:noFill/>
          <a:ln/>
        </p:spPr>
        <p:txBody>
          <a:bodyPr wrap="square"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SINAI</a:t>
            </a:r>
            <a:endParaRPr lang="en-US" sz="1100" dirty="0"/>
          </a:p>
        </p:txBody>
      </p:sp>
      <p:sp>
        <p:nvSpPr>
          <p:cNvPr id="4" name="Text 2"/>
          <p:cNvSpPr/>
          <p:nvPr/>
        </p:nvSpPr>
        <p:spPr>
          <a:xfrm>
            <a:off x="10652760" y="585216"/>
            <a:ext cx="1097280" cy="274320"/>
          </a:xfrm>
          <a:prstGeom prst="rect">
            <a:avLst/>
          </a:prstGeom>
          <a:noFill/>
          <a:ln/>
        </p:spPr>
        <p:txBody>
          <a:bodyPr wrap="square" rtlCol="0" anchor="ctr"/>
          <a:lstStyle/>
          <a:p>
            <a:pPr marL="0" indent="0" algn="r">
              <a:buNone/>
            </a:pPr>
            <a:r>
              <a:rPr lang="en-US" sz="1100" b="1" kern="0" spc="100" dirty="0">
                <a:solidFill>
                  <a:srgbClr val="5A6478"/>
                </a:solidFill>
                <a:latin typeface="Calibri" pitchFamily="34" charset="0"/>
                <a:ea typeface="Calibri" pitchFamily="34" charset="-122"/>
                <a:cs typeface="Calibri" pitchFamily="34" charset="-120"/>
              </a:rPr>
              <a:t>TODAY</a:t>
            </a:r>
            <a:endParaRPr lang="en-US" sz="1100" dirty="0"/>
          </a:p>
        </p:txBody>
      </p:sp>
      <p:sp>
        <p:nvSpPr>
          <p:cNvPr id="5" name="Shape 3"/>
          <p:cNvSpPr/>
          <p:nvPr/>
        </p:nvSpPr>
        <p:spPr>
          <a:xfrm>
            <a:off x="8680441" y="429768"/>
            <a:ext cx="146304" cy="146304"/>
          </a:xfrm>
          <a:prstGeom prst="ellipse">
            <a:avLst/>
          </a:prstGeom>
          <a:solidFill>
            <a:srgbClr val="5B7C99"/>
          </a:solidFill>
          <a:ln w="19050">
            <a:solidFill>
              <a:srgbClr val="FFFFFF"/>
            </a:solidFill>
            <a:prstDash val="solid"/>
          </a:ln>
        </p:spPr>
      </p:sp>
      <p:sp>
        <p:nvSpPr>
          <p:cNvPr id="6" name="Shape 4"/>
          <p:cNvSpPr/>
          <p:nvPr/>
        </p:nvSpPr>
        <p:spPr>
          <a:xfrm>
            <a:off x="457200" y="960120"/>
            <a:ext cx="2286000" cy="420624"/>
          </a:xfrm>
          <a:prstGeom prst="rect">
            <a:avLst/>
          </a:prstGeom>
          <a:solidFill>
            <a:srgbClr val="5B7C99"/>
          </a:solidFill>
          <a:ln/>
        </p:spPr>
      </p:sp>
      <p:sp>
        <p:nvSpPr>
          <p:cNvPr id="7" name="Text 5"/>
          <p:cNvSpPr/>
          <p:nvPr/>
        </p:nvSpPr>
        <p:spPr>
          <a:xfrm>
            <a:off x="457200" y="960120"/>
            <a:ext cx="2286000" cy="420624"/>
          </a:xfrm>
          <a:prstGeom prst="rect">
            <a:avLst/>
          </a:prstGeom>
          <a:noFill/>
          <a:ln/>
        </p:spPr>
        <p:txBody>
          <a:bodyPr wrap="square"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12th C. → Today</a:t>
            </a:r>
            <a:endParaRPr lang="en-US" sz="1500" dirty="0"/>
          </a:p>
        </p:txBody>
      </p:sp>
      <p:sp>
        <p:nvSpPr>
          <p:cNvPr id="8" name="Text 6"/>
          <p:cNvSpPr/>
          <p:nvPr/>
        </p:nvSpPr>
        <p:spPr>
          <a:xfrm>
            <a:off x="2926080" y="941832"/>
            <a:ext cx="5760720" cy="457200"/>
          </a:xfrm>
          <a:prstGeom prst="rect">
            <a:avLst/>
          </a:prstGeom>
          <a:noFill/>
          <a:ln/>
        </p:spPr>
        <p:txBody>
          <a:bodyPr wrap="square"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Ibn Ezra → contemporary teachers</a:t>
            </a:r>
            <a:endParaRPr lang="en-US" sz="1600" dirty="0"/>
          </a:p>
        </p:txBody>
      </p:sp>
      <p:sp>
        <p:nvSpPr>
          <p:cNvPr id="9" name="Text 7"/>
          <p:cNvSpPr/>
          <p:nvPr/>
        </p:nvSpPr>
        <p:spPr>
          <a:xfrm>
            <a:off x="8321040" y="868680"/>
            <a:ext cx="3383280" cy="594360"/>
          </a:xfrm>
          <a:prstGeom prst="rect">
            <a:avLst/>
          </a:prstGeom>
          <a:noFill/>
          <a:ln/>
        </p:spPr>
        <p:txBody>
          <a:bodyPr wrap="square" rtlCol="0" anchor="ctr"/>
          <a:lstStyle/>
          <a:p>
            <a:pPr marL="0" indent="0" algn="r">
              <a:buNone/>
            </a:pPr>
            <a:r>
              <a:rPr lang="en-US" sz="1800" b="1" i="1" dirty="0">
                <a:solidFill>
                  <a:srgbClr val="5B7C99"/>
                </a:solidFill>
                <a:latin typeface="Cambria" pitchFamily="34" charset="0"/>
                <a:ea typeface="Cambria" pitchFamily="34" charset="-122"/>
                <a:cs typeface="Cambria" pitchFamily="34" charset="-120"/>
              </a:rPr>
              <a:t>~2,400+ years</a:t>
            </a:r>
            <a:endParaRPr lang="en-US" sz="1800" dirty="0"/>
          </a:p>
          <a:p>
            <a:pPr marL="0" indent="0" algn="r">
              <a:buNone/>
            </a:pPr>
            <a:r>
              <a:rPr lang="en-US" sz="1800" b="1" i="1" dirty="0">
                <a:solidFill>
                  <a:srgbClr val="5B7C99"/>
                </a:solidFill>
                <a:latin typeface="Cambria" pitchFamily="34" charset="0"/>
                <a:ea typeface="Cambria" pitchFamily="34" charset="-122"/>
                <a:cs typeface="Cambria" pitchFamily="34" charset="-120"/>
              </a:rPr>
              <a:t>after Sinai</a:t>
            </a:r>
            <a:endParaRPr lang="en-US" sz="1800" dirty="0"/>
          </a:p>
        </p:txBody>
      </p:sp>
      <p:sp>
        <p:nvSpPr>
          <p:cNvPr id="10" name="Text 8"/>
          <p:cNvSpPr/>
          <p:nvPr/>
        </p:nvSpPr>
        <p:spPr>
          <a:xfrm>
            <a:off x="457200" y="1691640"/>
            <a:ext cx="11247120" cy="960120"/>
          </a:xfrm>
          <a:prstGeom prst="rect">
            <a:avLst/>
          </a:prstGeom>
          <a:noFill/>
          <a:ln/>
        </p:spPr>
        <p:txBody>
          <a:bodyPr wrap="square" rtlCol="0" anchor="ctr"/>
          <a:lstStyle/>
          <a:p>
            <a:pPr marL="0" indent="0">
              <a:buNone/>
            </a:pPr>
            <a:r>
              <a:rPr lang="en-US" sz="3800" b="1" dirty="0">
                <a:solidFill>
                  <a:srgbClr val="1E2761"/>
                </a:solidFill>
                <a:latin typeface="Cambria" pitchFamily="34" charset="0"/>
                <a:ea typeface="Cambria" pitchFamily="34" charset="-122"/>
                <a:cs typeface="Cambria" pitchFamily="34" charset="-120"/>
              </a:rPr>
              <a:t>The line that reaches our own century</a:t>
            </a:r>
            <a:endParaRPr lang="en-US" sz="3800" dirty="0"/>
          </a:p>
        </p:txBody>
      </p:sp>
      <p:sp>
        <p:nvSpPr>
          <p:cNvPr id="11" name="Text 9"/>
          <p:cNvSpPr/>
          <p:nvPr/>
        </p:nvSpPr>
        <p:spPr>
          <a:xfrm>
            <a:off x="457200" y="2743200"/>
            <a:ext cx="11247120" cy="3108960"/>
          </a:xfrm>
          <a:prstGeom prst="rect">
            <a:avLst/>
          </a:prstGeom>
          <a:noFill/>
          <a:ln/>
        </p:spPr>
        <p:txBody>
          <a:bodyPr wrap="square" rtlCol="0" anchor="t"/>
          <a:lstStyle/>
          <a:p>
            <a:pPr marL="0" indent="0">
              <a:lnSpc>
                <a:spcPct val="128000"/>
              </a:lnSpc>
              <a:buNone/>
            </a:pPr>
            <a:r>
              <a:rPr lang="en-US" sz="2100" dirty="0">
                <a:solidFill>
                  <a:srgbClr val="33394A"/>
                </a:solidFill>
                <a:latin typeface="Calibri" pitchFamily="34" charset="0"/>
                <a:ea typeface="Calibri" pitchFamily="34" charset="-122"/>
                <a:cs typeface="Calibri" pitchFamily="34" charset="-120"/>
              </a:rPr>
              <a:t>Ibn Ezra follows Rashi's national reading on both chapter 42 and chapter 53. Contemporary teachers associated with the anti-missionary movement, such as Rabbi Tovia Singer and Rabbi Michoel Skobac, continue this same line of interpretation and present it today as simply “the traditional Jewish view.” It is, in fact, a tradition — one that is roughly a thousand years younger than the reading it replaced.</a:t>
            </a:r>
            <a:endParaRPr lang="en-US" sz="2100" dirty="0"/>
          </a:p>
        </p:txBody>
      </p:sp>
      <p:sp>
        <p:nvSpPr>
          <p:cNvPr id="12" name="Text 10"/>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7315200" cy="411480"/>
          </a:xfrm>
          <a:prstGeom prst="rect">
            <a:avLst/>
          </a:prstGeom>
          <a:noFill/>
          <a:ln/>
        </p:spPr>
        <p:txBody>
          <a:bodyPr wrap="square" rtlCol="0" anchor="ctr"/>
          <a:lstStyle/>
          <a:p>
            <a:pPr marL="0" indent="0">
              <a:buNone/>
            </a:pPr>
            <a:r>
              <a:rPr lang="en-US" sz="1600" b="1" kern="0" spc="200" dirty="0">
                <a:solidFill>
                  <a:srgbClr val="C9A227"/>
                </a:solidFill>
                <a:latin typeface="Calibri" pitchFamily="34" charset="0"/>
                <a:ea typeface="Calibri" pitchFamily="34" charset="-122"/>
                <a:cs typeface="Calibri" pitchFamily="34" charset="-120"/>
              </a:rPr>
              <a:t>SUMMARY OF THE EVIDENCE</a:t>
            </a:r>
            <a:endParaRPr lang="en-US" sz="1600" dirty="0"/>
          </a:p>
        </p:txBody>
      </p:sp>
      <p:sp>
        <p:nvSpPr>
          <p:cNvPr id="3" name="Text 1"/>
          <p:cNvSpPr/>
          <p:nvPr/>
        </p:nvSpPr>
        <p:spPr>
          <a:xfrm>
            <a:off x="731520" y="914400"/>
            <a:ext cx="10515600" cy="68580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Distance from Sinai establishes the pattern</a:t>
            </a:r>
            <a:endParaRPr lang="en-US" sz="3400" dirty="0"/>
          </a:p>
        </p:txBody>
      </p:sp>
      <p:sp>
        <p:nvSpPr>
          <p:cNvPr id="4" name="Shape 2"/>
          <p:cNvSpPr/>
          <p:nvPr/>
        </p:nvSpPr>
        <p:spPr>
          <a:xfrm>
            <a:off x="731520" y="1874520"/>
            <a:ext cx="5212080" cy="3063240"/>
          </a:xfrm>
          <a:prstGeom prst="rect">
            <a:avLst/>
          </a:prstGeom>
          <a:solidFill>
            <a:srgbClr val="FBF7EC"/>
          </a:solidFill>
          <a:ln/>
        </p:spPr>
      </p:sp>
      <p:sp>
        <p:nvSpPr>
          <p:cNvPr id="5" name="Text 3"/>
          <p:cNvSpPr/>
          <p:nvPr/>
        </p:nvSpPr>
        <p:spPr>
          <a:xfrm>
            <a:off x="731520" y="2148840"/>
            <a:ext cx="5212080" cy="1097280"/>
          </a:xfrm>
          <a:prstGeom prst="rect">
            <a:avLst/>
          </a:prstGeom>
          <a:noFill/>
          <a:ln/>
        </p:spPr>
        <p:txBody>
          <a:bodyPr wrap="square" rtlCol="0" anchor="ctr"/>
          <a:lstStyle/>
          <a:p>
            <a:pPr marL="0" indent="0" algn="ctr">
              <a:buNone/>
            </a:pPr>
            <a:r>
              <a:rPr lang="en-US" sz="6000" b="1" dirty="0">
                <a:solidFill>
                  <a:srgbClr val="C9A227"/>
                </a:solidFill>
                <a:latin typeface="Cambria" pitchFamily="34" charset="0"/>
                <a:ea typeface="Cambria" pitchFamily="34" charset="-122"/>
                <a:cs typeface="Cambria" pitchFamily="34" charset="-120"/>
              </a:rPr>
              <a:t>~1,500 YRS</a:t>
            </a:r>
            <a:endParaRPr lang="en-US" sz="6000" dirty="0"/>
          </a:p>
        </p:txBody>
      </p:sp>
      <p:sp>
        <p:nvSpPr>
          <p:cNvPr id="6" name="Text 4"/>
          <p:cNvSpPr/>
          <p:nvPr/>
        </p:nvSpPr>
        <p:spPr>
          <a:xfrm>
            <a:off x="960120" y="3337560"/>
            <a:ext cx="4754880" cy="1051560"/>
          </a:xfrm>
          <a:prstGeom prst="rect">
            <a:avLst/>
          </a:prstGeom>
          <a:noFill/>
          <a:ln/>
        </p:spPr>
        <p:txBody>
          <a:bodyPr wrap="square" rtlCol="0" anchor="ctr"/>
          <a:lstStyle/>
          <a:p>
            <a:pPr marL="0" indent="0" algn="ctr">
              <a:lnSpc>
                <a:spcPct val="115000"/>
              </a:lnSpc>
              <a:buNone/>
            </a:pPr>
            <a:r>
              <a:rPr lang="en-US" sz="1700" dirty="0">
                <a:solidFill>
                  <a:srgbClr val="5A6478"/>
                </a:solidFill>
                <a:latin typeface="Calibri" pitchFamily="34" charset="0"/>
                <a:ea typeface="Calibri" pitchFamily="34" charset="-122"/>
                <a:cs typeface="Calibri" pitchFamily="34" charset="-120"/>
              </a:rPr>
              <a:t>Sukkah 52a's distance from Sinai:</a:t>
            </a:r>
            <a:endParaRPr lang="en-US" sz="1700" dirty="0"/>
          </a:p>
          <a:p>
            <a:pPr marL="0" indent="0" algn="ctr">
              <a:lnSpc>
                <a:spcPct val="115000"/>
              </a:lnSpc>
              <a:buNone/>
            </a:pPr>
            <a:r>
              <a:rPr lang="en-US" sz="1700" dirty="0">
                <a:solidFill>
                  <a:srgbClr val="5A6478"/>
                </a:solidFill>
                <a:latin typeface="Calibri" pitchFamily="34" charset="0"/>
                <a:ea typeface="Calibri" pitchFamily="34" charset="-122"/>
                <a:cs typeface="Calibri" pitchFamily="34" charset="-120"/>
              </a:rPr>
              <a:t>our earliest messianic evidence, roughly 850 years before Rashi</a:t>
            </a:r>
            <a:endParaRPr lang="en-US" sz="1700" dirty="0"/>
          </a:p>
        </p:txBody>
      </p:sp>
      <p:sp>
        <p:nvSpPr>
          <p:cNvPr id="7" name="Text 5"/>
          <p:cNvSpPr/>
          <p:nvPr/>
        </p:nvSpPr>
        <p:spPr>
          <a:xfrm>
            <a:off x="731520" y="4526280"/>
            <a:ext cx="5212080" cy="365760"/>
          </a:xfrm>
          <a:prstGeom prst="rect">
            <a:avLst/>
          </a:prstGeom>
          <a:noFill/>
          <a:ln/>
        </p:spPr>
        <p:txBody>
          <a:bodyPr wrap="square" rtlCol="0" anchor="ctr"/>
          <a:lstStyle/>
          <a:p>
            <a:pPr marL="0" indent="0" algn="ctr">
              <a:buNone/>
            </a:pPr>
            <a:r>
              <a:rPr lang="en-US" sz="1500" b="1" kern="0" spc="100" dirty="0">
                <a:solidFill>
                  <a:srgbClr val="C9A227"/>
                </a:solidFill>
                <a:latin typeface="Calibri" pitchFamily="34" charset="0"/>
                <a:ea typeface="Calibri" pitchFamily="34" charset="-122"/>
                <a:cs typeface="Calibri" pitchFamily="34" charset="-120"/>
              </a:rPr>
              <a:t>MESSIANIC READING FIRST APPEARS</a:t>
            </a:r>
            <a:endParaRPr lang="en-US" sz="1500" dirty="0"/>
          </a:p>
        </p:txBody>
      </p:sp>
      <p:sp>
        <p:nvSpPr>
          <p:cNvPr id="8" name="Shape 6"/>
          <p:cNvSpPr/>
          <p:nvPr/>
        </p:nvSpPr>
        <p:spPr>
          <a:xfrm>
            <a:off x="6217920" y="1874520"/>
            <a:ext cx="5212080" cy="3063240"/>
          </a:xfrm>
          <a:prstGeom prst="rect">
            <a:avLst/>
          </a:prstGeom>
          <a:solidFill>
            <a:srgbClr val="EFF3F7"/>
          </a:solidFill>
          <a:ln/>
        </p:spPr>
      </p:sp>
      <p:sp>
        <p:nvSpPr>
          <p:cNvPr id="9" name="Text 7"/>
          <p:cNvSpPr/>
          <p:nvPr/>
        </p:nvSpPr>
        <p:spPr>
          <a:xfrm>
            <a:off x="6217920" y="2148840"/>
            <a:ext cx="5212080" cy="1097280"/>
          </a:xfrm>
          <a:prstGeom prst="rect">
            <a:avLst/>
          </a:prstGeom>
          <a:noFill/>
          <a:ln/>
        </p:spPr>
        <p:txBody>
          <a:bodyPr wrap="square" rtlCol="0" anchor="ctr"/>
          <a:lstStyle/>
          <a:p>
            <a:pPr marL="0" indent="0" algn="ctr">
              <a:buNone/>
            </a:pPr>
            <a:r>
              <a:rPr lang="en-US" sz="6000" b="1" dirty="0">
                <a:solidFill>
                  <a:srgbClr val="5B7C99"/>
                </a:solidFill>
                <a:latin typeface="Cambria" pitchFamily="34" charset="0"/>
                <a:ea typeface="Cambria" pitchFamily="34" charset="-122"/>
                <a:cs typeface="Cambria" pitchFamily="34" charset="-120"/>
              </a:rPr>
              <a:t>~2,350 YRS</a:t>
            </a:r>
            <a:endParaRPr lang="en-US" sz="6000" dirty="0"/>
          </a:p>
        </p:txBody>
      </p:sp>
      <p:sp>
        <p:nvSpPr>
          <p:cNvPr id="10" name="Text 8"/>
          <p:cNvSpPr/>
          <p:nvPr/>
        </p:nvSpPr>
        <p:spPr>
          <a:xfrm>
            <a:off x="6446520" y="3337560"/>
            <a:ext cx="4754880" cy="1051560"/>
          </a:xfrm>
          <a:prstGeom prst="rect">
            <a:avLst/>
          </a:prstGeom>
          <a:noFill/>
          <a:ln/>
        </p:spPr>
        <p:txBody>
          <a:bodyPr wrap="square" rtlCol="0" anchor="ctr"/>
          <a:lstStyle/>
          <a:p>
            <a:pPr marL="0" indent="0" algn="ctr">
              <a:lnSpc>
                <a:spcPct val="115000"/>
              </a:lnSpc>
              <a:buNone/>
            </a:pPr>
            <a:r>
              <a:rPr lang="en-US" sz="1700" dirty="0">
                <a:solidFill>
                  <a:srgbClr val="5A6478"/>
                </a:solidFill>
                <a:latin typeface="Calibri" pitchFamily="34" charset="0"/>
                <a:ea typeface="Calibri" pitchFamily="34" charset="-122"/>
                <a:cs typeface="Calibri" pitchFamily="34" charset="-120"/>
              </a:rPr>
              <a:t>Rashi's distance from Sinai:</a:t>
            </a:r>
            <a:endParaRPr lang="en-US" sz="1700" dirty="0"/>
          </a:p>
          <a:p>
            <a:pPr marL="0" indent="0" algn="ctr">
              <a:lnSpc>
                <a:spcPct val="115000"/>
              </a:lnSpc>
              <a:buNone/>
            </a:pPr>
            <a:r>
              <a:rPr lang="en-US" sz="1700" dirty="0">
                <a:solidFill>
                  <a:srgbClr val="5A6478"/>
                </a:solidFill>
                <a:latin typeface="Calibri" pitchFamily="34" charset="0"/>
                <a:ea typeface="Calibri" pitchFamily="34" charset="-122"/>
                <a:cs typeface="Calibri" pitchFamily="34" charset="-120"/>
              </a:rPr>
              <a:t>the national reading's turning point, roughly 850 years after Sukkah 52a</a:t>
            </a:r>
            <a:endParaRPr lang="en-US" sz="1700" dirty="0"/>
          </a:p>
        </p:txBody>
      </p:sp>
      <p:sp>
        <p:nvSpPr>
          <p:cNvPr id="11" name="Text 9"/>
          <p:cNvSpPr/>
          <p:nvPr/>
        </p:nvSpPr>
        <p:spPr>
          <a:xfrm>
            <a:off x="6217920" y="4526280"/>
            <a:ext cx="5212080" cy="365760"/>
          </a:xfrm>
          <a:prstGeom prst="rect">
            <a:avLst/>
          </a:prstGeom>
          <a:noFill/>
          <a:ln/>
        </p:spPr>
        <p:txBody>
          <a:bodyPr wrap="square" rtlCol="0" anchor="ctr"/>
          <a:lstStyle/>
          <a:p>
            <a:pPr marL="0" indent="0" algn="ctr">
              <a:buNone/>
            </a:pPr>
            <a:r>
              <a:rPr lang="en-US" sz="1500" b="1" kern="0" spc="100" dirty="0">
                <a:solidFill>
                  <a:srgbClr val="5B7C99"/>
                </a:solidFill>
                <a:latin typeface="Calibri" pitchFamily="34" charset="0"/>
                <a:ea typeface="Calibri" pitchFamily="34" charset="-122"/>
                <a:cs typeface="Calibri" pitchFamily="34" charset="-120"/>
              </a:rPr>
              <a:t>NATIONAL READING BECOMES DOMINANT</a:t>
            </a:r>
            <a:endParaRPr lang="en-US" sz="1500" dirty="0"/>
          </a:p>
        </p:txBody>
      </p:sp>
      <p:sp>
        <p:nvSpPr>
          <p:cNvPr id="12" name="Text 10"/>
          <p:cNvSpPr/>
          <p:nvPr/>
        </p:nvSpPr>
        <p:spPr>
          <a:xfrm>
            <a:off x="731520" y="5257800"/>
            <a:ext cx="10698480" cy="1097280"/>
          </a:xfrm>
          <a:prstGeom prst="rect">
            <a:avLst/>
          </a:prstGeom>
          <a:noFill/>
          <a:ln/>
        </p:spPr>
        <p:txBody>
          <a:bodyPr wrap="square" rtlCol="0" anchor="ctr"/>
          <a:lstStyle/>
          <a:p>
            <a:pPr marL="0" indent="0">
              <a:lnSpc>
                <a:spcPct val="125000"/>
              </a:lnSpc>
              <a:buNone/>
            </a:pPr>
            <a:r>
              <a:rPr lang="en-US" sz="2000" i="1" dirty="0">
                <a:solidFill>
                  <a:srgbClr val="1E2761"/>
                </a:solidFill>
                <a:latin typeface="Cambria" pitchFamily="34" charset="0"/>
                <a:ea typeface="Cambria" pitchFamily="34" charset="-122"/>
                <a:cs typeface="Cambria" pitchFamily="34" charset="-120"/>
              </a:rPr>
              <a:t>The messianic reading is on record roughly 850 years before Rashi makes the national reading dominant. It is, in fact, the reading closest to Moses.</a:t>
            </a:r>
            <a:endParaRPr lang="en-US" sz="2000" dirty="0"/>
          </a:p>
        </p:txBody>
      </p:sp>
      <p:sp>
        <p:nvSpPr>
          <p:cNvPr id="13" name="Text 11"/>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457200"/>
            <a:ext cx="10058400" cy="365760"/>
          </a:xfrm>
          <a:prstGeom prst="rect">
            <a:avLst/>
          </a:prstGeom>
          <a:noFill/>
          <a:ln/>
        </p:spPr>
        <p:txBody>
          <a:bodyPr wrap="square" rtlCol="0" anchor="ctr"/>
          <a:lstStyle/>
          <a:p>
            <a:pPr marL="0" indent="0">
              <a:buNone/>
            </a:pPr>
            <a:r>
              <a:rPr lang="en-US" sz="1600" b="1" kern="0" spc="200" dirty="0">
                <a:solidFill>
                  <a:srgbClr val="C9A227"/>
                </a:solidFill>
                <a:latin typeface="Calibri" pitchFamily="34" charset="0"/>
                <a:ea typeface="Calibri" pitchFamily="34" charset="-122"/>
                <a:cs typeface="Calibri" pitchFamily="34" charset="-120"/>
              </a:rPr>
              <a:t>MY CONCLUSION</a:t>
            </a:r>
            <a:endParaRPr lang="en-US" sz="1600" dirty="0"/>
          </a:p>
        </p:txBody>
      </p:sp>
      <p:sp>
        <p:nvSpPr>
          <p:cNvPr id="3" name="Text 1"/>
          <p:cNvSpPr/>
          <p:nvPr/>
        </p:nvSpPr>
        <p:spPr>
          <a:xfrm>
            <a:off x="731520" y="914400"/>
            <a:ext cx="10698480" cy="7772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oldest reading is messianic.</a:t>
            </a:r>
            <a:endParaRPr lang="en-US" sz="4000" dirty="0"/>
          </a:p>
        </p:txBody>
      </p:sp>
      <p:sp>
        <p:nvSpPr>
          <p:cNvPr id="4" name="Shape 2"/>
          <p:cNvSpPr/>
          <p:nvPr/>
        </p:nvSpPr>
        <p:spPr>
          <a:xfrm>
            <a:off x="777240" y="1828800"/>
            <a:ext cx="2011680" cy="0"/>
          </a:xfrm>
          <a:prstGeom prst="line">
            <a:avLst/>
          </a:prstGeom>
          <a:noFill/>
          <a:ln w="38100">
            <a:solidFill>
              <a:srgbClr val="C9A227"/>
            </a:solidFill>
            <a:prstDash val="solid"/>
          </a:ln>
        </p:spPr>
      </p:sp>
      <p:sp>
        <p:nvSpPr>
          <p:cNvPr id="5" name="Text 3"/>
          <p:cNvSpPr/>
          <p:nvPr/>
        </p:nvSpPr>
        <p:spPr>
          <a:xfrm>
            <a:off x="731520" y="2103120"/>
            <a:ext cx="10698480" cy="502920"/>
          </a:xfrm>
          <a:prstGeom prst="rect">
            <a:avLst/>
          </a:prstGeom>
          <a:noFill/>
          <a:ln/>
        </p:spPr>
        <p:txBody>
          <a:bodyPr wrap="square" rtlCol="0" anchor="ctr"/>
          <a:lstStyle/>
          <a:p>
            <a:pPr marL="0" indent="0">
              <a:buNone/>
            </a:pPr>
            <a:r>
              <a:rPr lang="en-US" sz="2400" dirty="0">
                <a:solidFill>
                  <a:srgbClr val="FFFFFF"/>
                </a:solidFill>
                <a:latin typeface="Calibri" pitchFamily="34" charset="0"/>
                <a:ea typeface="Calibri" pitchFamily="34" charset="-122"/>
                <a:cs typeface="Calibri" pitchFamily="34" charset="-120"/>
              </a:rPr>
              <a:t>The rabbi closest to Sinai said </a:t>
            </a:r>
            <a:r>
              <a:rPr lang="en-US" sz="2400" b="1" dirty="0">
                <a:solidFill>
                  <a:srgbClr val="C9A227"/>
                </a:solidFill>
                <a:latin typeface="Calibri" pitchFamily="34" charset="0"/>
                <a:ea typeface="Calibri" pitchFamily="34" charset="-122"/>
                <a:cs typeface="Calibri" pitchFamily="34" charset="-120"/>
              </a:rPr>
              <a:t>Messiah.</a:t>
            </a:r>
            <a:endParaRPr lang="en-US" sz="2400" dirty="0"/>
          </a:p>
        </p:txBody>
      </p:sp>
      <p:sp>
        <p:nvSpPr>
          <p:cNvPr id="6" name="Text 4"/>
          <p:cNvSpPr/>
          <p:nvPr/>
        </p:nvSpPr>
        <p:spPr>
          <a:xfrm>
            <a:off x="731520" y="2651760"/>
            <a:ext cx="10698480" cy="502920"/>
          </a:xfrm>
          <a:prstGeom prst="rect">
            <a:avLst/>
          </a:prstGeom>
          <a:noFill/>
          <a:ln/>
        </p:spPr>
        <p:txBody>
          <a:bodyPr wrap="square" rtlCol="0" anchor="ctr"/>
          <a:lstStyle/>
          <a:p>
            <a:pPr marL="0" indent="0">
              <a:buNone/>
            </a:pPr>
            <a:r>
              <a:rPr lang="en-US" sz="2400" dirty="0">
                <a:solidFill>
                  <a:srgbClr val="FFFFFF"/>
                </a:solidFill>
                <a:latin typeface="Calibri" pitchFamily="34" charset="0"/>
                <a:ea typeface="Calibri" pitchFamily="34" charset="-122"/>
                <a:cs typeface="Calibri" pitchFamily="34" charset="-120"/>
              </a:rPr>
              <a:t>The rabbi who changed that answer did so </a:t>
            </a:r>
            <a:r>
              <a:rPr lang="en-US" sz="2400" b="1" dirty="0">
                <a:solidFill>
                  <a:srgbClr val="FFFFFF"/>
                </a:solidFill>
                <a:latin typeface="Calibri" pitchFamily="34" charset="0"/>
                <a:ea typeface="Calibri" pitchFamily="34" charset="-122"/>
                <a:cs typeface="Calibri" pitchFamily="34" charset="-120"/>
              </a:rPr>
              <a:t>about 850 years further away from Sinai.</a:t>
            </a:r>
            <a:endParaRPr lang="en-US" sz="2400" dirty="0"/>
          </a:p>
        </p:txBody>
      </p:sp>
      <p:sp>
        <p:nvSpPr>
          <p:cNvPr id="7" name="Text 5"/>
          <p:cNvSpPr/>
          <p:nvPr/>
        </p:nvSpPr>
        <p:spPr>
          <a:xfrm>
            <a:off x="731520" y="3429000"/>
            <a:ext cx="10424160" cy="960120"/>
          </a:xfrm>
          <a:prstGeom prst="rect">
            <a:avLst/>
          </a:prstGeom>
          <a:noFill/>
          <a:ln/>
        </p:spPr>
        <p:txBody>
          <a:bodyPr wrap="square" rtlCol="0" anchor="ctr"/>
          <a:lstStyle/>
          <a:p>
            <a:pPr marL="0" indent="0">
              <a:lnSpc>
                <a:spcPct val="125000"/>
              </a:lnSpc>
              <a:buNone/>
            </a:pPr>
            <a:r>
              <a:rPr lang="en-US" sz="1900" i="1" dirty="0">
                <a:solidFill>
                  <a:srgbClr val="FFFFFF"/>
                </a:solidFill>
                <a:latin typeface="Calibri" pitchFamily="34" charset="0"/>
                <a:ea typeface="Calibri" pitchFamily="34" charset="-122"/>
                <a:cs typeface="Calibri" pitchFamily="34" charset="-120"/>
              </a:rPr>
              <a:t>When you hear that this is simply “what the rabbis have always taught,” ask which rabbi, and when he lived. The record answers both questions.</a:t>
            </a:r>
            <a:endParaRPr lang="en-US" sz="1900" dirty="0"/>
          </a:p>
        </p:txBody>
      </p:sp>
      <p:sp>
        <p:nvSpPr>
          <p:cNvPr id="8" name="Text 6"/>
          <p:cNvSpPr/>
          <p:nvPr/>
        </p:nvSpPr>
        <p:spPr>
          <a:xfrm>
            <a:off x="673396" y="4709160"/>
            <a:ext cx="10845209" cy="822960"/>
          </a:xfrm>
          <a:prstGeom prst="rect">
            <a:avLst/>
          </a:prstGeom>
          <a:noFill/>
          <a:ln/>
        </p:spPr>
        <p:txBody>
          <a:bodyPr wrap="square" rtlCol="0" anchor="ctr"/>
          <a:lstStyle/>
          <a:p>
            <a:pPr marL="0" indent="0">
              <a:buNone/>
            </a:pPr>
            <a:r>
              <a:rPr lang="en-US" sz="3000" b="1" i="1" dirty="0">
                <a:solidFill>
                  <a:srgbClr val="FFFFFF"/>
                </a:solidFill>
                <a:latin typeface="Cambria" pitchFamily="34" charset="0"/>
                <a:ea typeface="Cambria" pitchFamily="34" charset="-122"/>
                <a:cs typeface="Cambria" pitchFamily="34" charset="-120"/>
              </a:rPr>
              <a:t>Messiah: </a:t>
            </a:r>
            <a:r>
              <a:rPr lang="en-US" sz="3000" b="1" i="1" u="sng" dirty="0">
                <a:solidFill>
                  <a:srgbClr val="FFFFFF"/>
                </a:solidFill>
                <a:latin typeface="Cambria" pitchFamily="34" charset="0"/>
                <a:ea typeface="Cambria" pitchFamily="34" charset="-122"/>
                <a:cs typeface="Cambria" pitchFamily="34" charset="-120"/>
              </a:rPr>
              <a:t>first</a:t>
            </a:r>
            <a:r>
              <a:rPr lang="en-US" sz="3000" b="1" i="1" dirty="0">
                <a:solidFill>
                  <a:srgbClr val="FFFFFF"/>
                </a:solidFill>
                <a:latin typeface="Cambria" pitchFamily="34" charset="0"/>
                <a:ea typeface="Cambria" pitchFamily="34" charset="-122"/>
                <a:cs typeface="Cambria" pitchFamily="34" charset="-120"/>
              </a:rPr>
              <a:t>. Messiah: </a:t>
            </a:r>
            <a:r>
              <a:rPr lang="en-US" sz="3000" b="1" i="1" u="sng" dirty="0">
                <a:solidFill>
                  <a:srgbClr val="FFFFFF"/>
                </a:solidFill>
                <a:latin typeface="Cambria" pitchFamily="34" charset="0"/>
                <a:ea typeface="Cambria" pitchFamily="34" charset="-122"/>
                <a:cs typeface="Cambria" pitchFamily="34" charset="-120"/>
              </a:rPr>
              <a:t>earliest</a:t>
            </a:r>
            <a:r>
              <a:rPr lang="en-US" sz="3000" b="1" i="1" dirty="0">
                <a:solidFill>
                  <a:srgbClr val="FFFFFF"/>
                </a:solidFill>
                <a:latin typeface="Cambria" pitchFamily="34" charset="0"/>
                <a:ea typeface="Cambria" pitchFamily="34" charset="-122"/>
                <a:cs typeface="Cambria" pitchFamily="34" charset="-120"/>
              </a:rPr>
              <a:t>. Messiah: </a:t>
            </a:r>
            <a:r>
              <a:rPr lang="en-US" sz="3000" b="1" i="1" u="sng" dirty="0">
                <a:solidFill>
                  <a:srgbClr val="FFFFFF"/>
                </a:solidFill>
                <a:latin typeface="Cambria" pitchFamily="34" charset="0"/>
                <a:ea typeface="Cambria" pitchFamily="34" charset="-122"/>
                <a:cs typeface="Cambria" pitchFamily="34" charset="-120"/>
              </a:rPr>
              <a:t>closest to the source</a:t>
            </a:r>
            <a:r>
              <a:rPr lang="en-US" sz="3000" b="1" i="1" dirty="0">
                <a:solidFill>
                  <a:srgbClr val="FFFFFF"/>
                </a:solidFill>
                <a:latin typeface="Cambria" pitchFamily="34" charset="0"/>
                <a:ea typeface="Cambria" pitchFamily="34" charset="-122"/>
                <a:cs typeface="Cambria" pitchFamily="34" charset="-120"/>
              </a:rPr>
              <a:t>.</a:t>
            </a:r>
            <a:endParaRPr lang="en-US" sz="3000" dirty="0"/>
          </a:p>
        </p:txBody>
      </p:sp>
      <p:sp>
        <p:nvSpPr>
          <p:cNvPr id="10" name="Text 7"/>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FFFFFF"/>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55:7</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Let the wicked give up his ways, the sinful man his plans; let him turn back to the LORD, and He will pardon him; to our God, for he freely forgives.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2:12</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Pay homage in good faith, lest He be angered, and your way be doomed in the mere flash of His anger. Happy are all who take refuge in Him.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Job 19:25–26</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But I know that my Vindicator lives; In the end He will testify on earth. </a:t>
            </a:r>
            <a:r>
              <a:rPr lang="en-US" sz="2800" i="1" baseline="30000" dirty="0">
                <a:solidFill>
                  <a:srgbClr val="1E2761"/>
                </a:solidFill>
                <a:latin typeface="Cambria" pitchFamily="34" charset="0"/>
                <a:ea typeface="Cambria" pitchFamily="34" charset="-122"/>
                <a:cs typeface="Cambria" pitchFamily="34" charset="-120"/>
              </a:rPr>
              <a:t>26</a:t>
            </a:r>
            <a:r>
              <a:rPr lang="en-US" sz="2800" i="1" dirty="0">
                <a:solidFill>
                  <a:srgbClr val="1E2761"/>
                </a:solidFill>
                <a:latin typeface="Cambria" pitchFamily="34" charset="0"/>
                <a:ea typeface="Cambria" pitchFamily="34" charset="-122"/>
                <a:cs typeface="Cambria" pitchFamily="34" charset="-120"/>
              </a:rPr>
              <a:t>This, after my skin will have been peeled off. But I would behold God while still in my flesh.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95:7b–8</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O, if you would but heed His charge this day: </a:t>
            </a:r>
            <a:r>
              <a:rPr lang="en-US" sz="2800" i="1" baseline="30000" dirty="0">
                <a:solidFill>
                  <a:srgbClr val="1E2761"/>
                </a:solidFill>
                <a:latin typeface="Cambria" pitchFamily="34" charset="0"/>
                <a:ea typeface="Cambria" pitchFamily="34" charset="-122"/>
                <a:cs typeface="Cambria" pitchFamily="34" charset="-120"/>
              </a:rPr>
              <a:t>8</a:t>
            </a:r>
            <a:r>
              <a:rPr lang="en-US" sz="2800" i="1" dirty="0">
                <a:solidFill>
                  <a:srgbClr val="1E2761"/>
                </a:solidFill>
                <a:latin typeface="Cambria" pitchFamily="34" charset="0"/>
                <a:ea typeface="Cambria" pitchFamily="34" charset="-122"/>
                <a:cs typeface="Cambria" pitchFamily="34" charset="-120"/>
              </a:rPr>
              <a:t>Do not be stubborn as at Meribah, as on the day of Massah, in the wilderness.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Isaiah 49:8</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Thus said the LORD: In an hour of favor I answer you, and on a day of salvation I help you.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Psalm 145:18</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The LORD is near to all who call Him, to all who call Him with sincerity. (JPS)</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30352"/>
            <a:ext cx="10698480" cy="530352"/>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 Prayer of Redemption</a:t>
            </a:r>
            <a:endParaRPr lang="en-US" sz="2600" dirty="0"/>
          </a:p>
        </p:txBody>
      </p:sp>
      <p:sp>
        <p:nvSpPr>
          <p:cNvPr id="3" name="Shape 1"/>
          <p:cNvSpPr/>
          <p:nvPr/>
        </p:nvSpPr>
        <p:spPr>
          <a:xfrm>
            <a:off x="777240" y="1143000"/>
            <a:ext cx="11109960" cy="0"/>
          </a:xfrm>
          <a:prstGeom prst="line">
            <a:avLst/>
          </a:prstGeom>
          <a:noFill/>
          <a:ln w="19050">
            <a:solidFill>
              <a:srgbClr val="D8DCE6"/>
            </a:solidFill>
            <a:prstDash val="solid"/>
          </a:ln>
        </p:spPr>
      </p:sp>
      <p:sp>
        <p:nvSpPr>
          <p:cNvPr id="4" name="Text 2"/>
          <p:cNvSpPr/>
          <p:nvPr/>
        </p:nvSpPr>
        <p:spPr>
          <a:xfrm>
            <a:off x="822960" y="1371600"/>
            <a:ext cx="10515600" cy="4846320"/>
          </a:xfrm>
          <a:prstGeom prst="rect">
            <a:avLst/>
          </a:prstGeom>
          <a:noFill/>
          <a:ln/>
        </p:spPr>
        <p:txBody>
          <a:bodyPr wrap="square" rtlCol="0" anchor="ctr"/>
          <a:lstStyle/>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Dear Yeshua, God's Son,</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I admit I am a sinner and that You died for my sins.</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I believe You are our promised Messiah,</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And I receive You as my Lord and my God.</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Please forgive me and bless my life, just as You promised.</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Thank You for redeeming me and accepting me.</a:t>
            </a:r>
            <a:endParaRPr lang="en-US" sz="2800" dirty="0"/>
          </a:p>
          <a:p>
            <a:pPr marL="0" indent="0">
              <a:lnSpc>
                <a:spcPct val="132000"/>
              </a:lnSpc>
              <a:buNone/>
            </a:pPr>
            <a:r>
              <a:rPr lang="en-US" sz="2800" i="1" dirty="0">
                <a:solidFill>
                  <a:srgbClr val="1E2761"/>
                </a:solidFill>
                <a:latin typeface="Cambria" pitchFamily="34" charset="0"/>
                <a:ea typeface="Cambria" pitchFamily="34" charset="-122"/>
                <a:cs typeface="Cambria" pitchFamily="34" charset="-120"/>
              </a:rPr>
              <a:t>And now help me to live for You. Amen.</a:t>
            </a:r>
            <a:endParaRPr lang="en-US" sz="2800" dirty="0"/>
          </a:p>
        </p:txBody>
      </p:sp>
      <p:sp>
        <p:nvSpPr>
          <p:cNvPr id="5" name="Text 3"/>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1E2761"/>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502920"/>
            <a:ext cx="10058400" cy="365760"/>
          </a:xfrm>
          <a:prstGeom prst="rect">
            <a:avLst/>
          </a:prstGeom>
          <a:noFill/>
          <a:ln/>
        </p:spPr>
        <p:txBody>
          <a:bodyPr wrap="square" rtlCol="0" anchor="ctr"/>
          <a:lstStyle/>
          <a:p>
            <a:pPr marL="0" indent="0">
              <a:buNone/>
            </a:pPr>
            <a:r>
              <a:rPr lang="en-US" sz="1600" b="1" kern="0" spc="200" dirty="0">
                <a:solidFill>
                  <a:srgbClr val="C9A227"/>
                </a:solidFill>
                <a:latin typeface="Calibri" pitchFamily="34" charset="0"/>
                <a:ea typeface="Calibri" pitchFamily="34" charset="-122"/>
                <a:cs typeface="Calibri" pitchFamily="34" charset="-120"/>
              </a:rPr>
              <a:t>FURTHER INFORMATION</a:t>
            </a:r>
            <a:endParaRPr lang="en-US" sz="1600" dirty="0"/>
          </a:p>
        </p:txBody>
      </p:sp>
      <p:sp>
        <p:nvSpPr>
          <p:cNvPr id="3" name="Text 1"/>
          <p:cNvSpPr/>
          <p:nvPr/>
        </p:nvSpPr>
        <p:spPr>
          <a:xfrm>
            <a:off x="731520" y="914400"/>
            <a:ext cx="10698480" cy="7772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Where To Go From Here</a:t>
            </a:r>
            <a:endParaRPr lang="en-US" sz="4000" dirty="0"/>
          </a:p>
        </p:txBody>
      </p:sp>
      <p:sp>
        <p:nvSpPr>
          <p:cNvPr id="4" name="Shape 2"/>
          <p:cNvSpPr/>
          <p:nvPr/>
        </p:nvSpPr>
        <p:spPr>
          <a:xfrm>
            <a:off x="777240" y="1828800"/>
            <a:ext cx="2011680" cy="0"/>
          </a:xfrm>
          <a:prstGeom prst="line">
            <a:avLst/>
          </a:prstGeom>
          <a:noFill/>
          <a:ln w="38100">
            <a:solidFill>
              <a:srgbClr val="C9A227"/>
            </a:solidFill>
            <a:prstDash val="solid"/>
          </a:ln>
        </p:spPr>
      </p:sp>
      <p:sp>
        <p:nvSpPr>
          <p:cNvPr id="5" name="Text 3"/>
          <p:cNvSpPr/>
          <p:nvPr/>
        </p:nvSpPr>
        <p:spPr>
          <a:xfrm>
            <a:off x="731520" y="2148840"/>
            <a:ext cx="10698480" cy="1051560"/>
          </a:xfrm>
          <a:prstGeom prst="rect">
            <a:avLst/>
          </a:prstGeom>
          <a:noFill/>
          <a:ln/>
        </p:spPr>
        <p:txBody>
          <a:bodyPr wrap="square" rtlCol="0" anchor="ctr"/>
          <a:lstStyle/>
          <a:p>
            <a:pPr marL="0" indent="0">
              <a:lnSpc>
                <a:spcPct val="130000"/>
              </a:lnSpc>
              <a:buNone/>
            </a:pPr>
            <a:r>
              <a:rPr lang="en-US" sz="2100" dirty="0">
                <a:solidFill>
                  <a:srgbClr val="FFFFFF"/>
                </a:solidFill>
                <a:latin typeface="Calibri" pitchFamily="34" charset="0"/>
                <a:ea typeface="Calibri" pitchFamily="34" charset="-122"/>
                <a:cs typeface="Calibri" pitchFamily="34" charset="-120"/>
              </a:rPr>
              <a:t>For further information about today's message, visit </a:t>
            </a:r>
            <a:r>
              <a:rPr lang="en-US" sz="2100" b="1" dirty="0">
                <a:solidFill>
                  <a:srgbClr val="C9A227"/>
                </a:solidFill>
                <a:latin typeface="Calibri" pitchFamily="34" charset="0"/>
                <a:ea typeface="Calibri" pitchFamily="34" charset="-122"/>
                <a:cs typeface="Calibri" pitchFamily="34" charset="-120"/>
              </a:rPr>
              <a:t>Turn2Moshiach.org</a:t>
            </a:r>
            <a:r>
              <a:rPr lang="en-US" sz="2100" dirty="0">
                <a:solidFill>
                  <a:srgbClr val="FFFFFF"/>
                </a:solidFill>
                <a:latin typeface="Calibri" pitchFamily="34" charset="0"/>
                <a:ea typeface="Calibri" pitchFamily="34" charset="-122"/>
                <a:cs typeface="Calibri" pitchFamily="34" charset="-120"/>
              </a:rPr>
              <a:t> or contact us at </a:t>
            </a:r>
            <a:r>
              <a:rPr lang="en-US" sz="2100" b="1" dirty="0">
                <a:solidFill>
                  <a:srgbClr val="C9A227"/>
                </a:solidFill>
                <a:latin typeface="Calibri" pitchFamily="34" charset="0"/>
                <a:ea typeface="Calibri" pitchFamily="34" charset="-122"/>
                <a:cs typeface="Calibri" pitchFamily="34" charset="-120"/>
              </a:rPr>
              <a:t>info@Turn2Moshiach.org</a:t>
            </a:r>
            <a:r>
              <a:rPr lang="en-US" sz="2100" dirty="0">
                <a:solidFill>
                  <a:srgbClr val="FFFFFF"/>
                </a:solidFill>
                <a:latin typeface="Calibri" pitchFamily="34" charset="0"/>
                <a:ea typeface="Calibri" pitchFamily="34" charset="-122"/>
                <a:cs typeface="Calibri" pitchFamily="34" charset="-120"/>
              </a:rPr>
              <a:t>.</a:t>
            </a:r>
            <a:endParaRPr lang="en-US" sz="2100" dirty="0"/>
          </a:p>
        </p:txBody>
      </p:sp>
      <p:sp>
        <p:nvSpPr>
          <p:cNvPr id="6" name="Text 4"/>
          <p:cNvSpPr/>
          <p:nvPr/>
        </p:nvSpPr>
        <p:spPr>
          <a:xfrm>
            <a:off x="731520" y="3291840"/>
            <a:ext cx="10698480" cy="1051560"/>
          </a:xfrm>
          <a:prstGeom prst="rect">
            <a:avLst/>
          </a:prstGeom>
          <a:noFill/>
          <a:ln/>
        </p:spPr>
        <p:txBody>
          <a:bodyPr wrap="square" rtlCol="0" anchor="ctr"/>
          <a:lstStyle/>
          <a:p>
            <a:pPr marL="0" indent="0">
              <a:lnSpc>
                <a:spcPct val="130000"/>
              </a:lnSpc>
              <a:buNone/>
            </a:pPr>
            <a:r>
              <a:rPr lang="en-US" sz="2100" dirty="0">
                <a:solidFill>
                  <a:srgbClr val="FFFFFF"/>
                </a:solidFill>
                <a:latin typeface="Calibri" pitchFamily="34" charset="0"/>
                <a:ea typeface="Calibri" pitchFamily="34" charset="-122"/>
                <a:cs typeface="Calibri" pitchFamily="34" charset="-120"/>
              </a:rPr>
              <a:t>For further information about Shuvah Yisrael Messianic Congregation, visit </a:t>
            </a:r>
            <a:r>
              <a:rPr lang="en-US" sz="2100" b="1" dirty="0">
                <a:solidFill>
                  <a:srgbClr val="C9A227"/>
                </a:solidFill>
                <a:latin typeface="Calibri" pitchFamily="34" charset="0"/>
                <a:ea typeface="Calibri" pitchFamily="34" charset="-122"/>
                <a:cs typeface="Calibri" pitchFamily="34" charset="-120"/>
              </a:rPr>
              <a:t>ShuvahYisrael.org</a:t>
            </a:r>
            <a:r>
              <a:rPr lang="en-US" sz="2100" dirty="0">
                <a:solidFill>
                  <a:srgbClr val="FFFFFF"/>
                </a:solidFill>
                <a:latin typeface="Calibri" pitchFamily="34" charset="0"/>
                <a:ea typeface="Calibri" pitchFamily="34" charset="-122"/>
                <a:cs typeface="Calibri" pitchFamily="34" charset="-120"/>
              </a:rPr>
              <a:t> or contact us at </a:t>
            </a:r>
            <a:r>
              <a:rPr lang="en-US" sz="2100" b="1" dirty="0">
                <a:solidFill>
                  <a:srgbClr val="C9A227"/>
                </a:solidFill>
                <a:latin typeface="Calibri" pitchFamily="34" charset="0"/>
                <a:ea typeface="Calibri" pitchFamily="34" charset="-122"/>
                <a:cs typeface="Calibri" pitchFamily="34" charset="-120"/>
              </a:rPr>
              <a:t>info@ShuvahYisrael.org</a:t>
            </a:r>
            <a:r>
              <a:rPr lang="en-US" sz="2100" dirty="0">
                <a:solidFill>
                  <a:srgbClr val="FFFFFF"/>
                </a:solidFill>
                <a:latin typeface="Calibri" pitchFamily="34" charset="0"/>
                <a:ea typeface="Calibri" pitchFamily="34" charset="-122"/>
                <a:cs typeface="Calibri" pitchFamily="34" charset="-120"/>
              </a:rPr>
              <a:t>.</a:t>
            </a:r>
            <a:endParaRPr lang="en-US" sz="2100" dirty="0"/>
          </a:p>
        </p:txBody>
      </p:sp>
      <p:sp>
        <p:nvSpPr>
          <p:cNvPr id="7" name="Text 5"/>
          <p:cNvSpPr/>
          <p:nvPr/>
        </p:nvSpPr>
        <p:spPr>
          <a:xfrm>
            <a:off x="731520" y="4434840"/>
            <a:ext cx="10698480" cy="1051560"/>
          </a:xfrm>
          <a:prstGeom prst="rect">
            <a:avLst/>
          </a:prstGeom>
          <a:noFill/>
          <a:ln/>
        </p:spPr>
        <p:txBody>
          <a:bodyPr wrap="square" rtlCol="0" anchor="ctr"/>
          <a:lstStyle/>
          <a:p>
            <a:pPr marL="0" indent="0">
              <a:lnSpc>
                <a:spcPct val="130000"/>
              </a:lnSpc>
              <a:buNone/>
            </a:pPr>
            <a:r>
              <a:rPr lang="en-US" sz="2100" dirty="0">
                <a:solidFill>
                  <a:srgbClr val="FFFFFF"/>
                </a:solidFill>
                <a:latin typeface="Calibri" pitchFamily="34" charset="0"/>
                <a:ea typeface="Calibri" pitchFamily="34" charset="-122"/>
                <a:cs typeface="Calibri" pitchFamily="34" charset="-120"/>
              </a:rPr>
              <a:t>For further information about Messianic Hope, Inc., visit </a:t>
            </a:r>
            <a:r>
              <a:rPr lang="en-US" sz="2100" b="1" dirty="0">
                <a:solidFill>
                  <a:srgbClr val="C9A227"/>
                </a:solidFill>
                <a:latin typeface="Calibri" pitchFamily="34" charset="0"/>
                <a:ea typeface="Calibri" pitchFamily="34" charset="-122"/>
                <a:cs typeface="Calibri" pitchFamily="34" charset="-120"/>
              </a:rPr>
              <a:t>MessianicGO.org</a:t>
            </a:r>
            <a:r>
              <a:rPr lang="en-US" sz="2100" dirty="0">
                <a:solidFill>
                  <a:srgbClr val="FFFFFF"/>
                </a:solidFill>
                <a:latin typeface="Calibri" pitchFamily="34" charset="0"/>
                <a:ea typeface="Calibri" pitchFamily="34" charset="-122"/>
                <a:cs typeface="Calibri" pitchFamily="34" charset="-120"/>
              </a:rPr>
              <a:t> or contact us at </a:t>
            </a:r>
            <a:r>
              <a:rPr lang="en-US" sz="2100" b="1" dirty="0">
                <a:solidFill>
                  <a:srgbClr val="C9A227"/>
                </a:solidFill>
                <a:latin typeface="Calibri" pitchFamily="34" charset="0"/>
                <a:ea typeface="Calibri" pitchFamily="34" charset="-122"/>
                <a:cs typeface="Calibri" pitchFamily="34" charset="-120"/>
              </a:rPr>
              <a:t>info@MessianicGO.org</a:t>
            </a:r>
            <a:r>
              <a:rPr lang="en-US" sz="2100" dirty="0">
                <a:solidFill>
                  <a:srgbClr val="FFFFFF"/>
                </a:solidFill>
                <a:latin typeface="Calibri" pitchFamily="34" charset="0"/>
                <a:ea typeface="Calibri" pitchFamily="34" charset="-122"/>
                <a:cs typeface="Calibri" pitchFamily="34" charset="-120"/>
              </a:rPr>
              <a:t>.</a:t>
            </a:r>
            <a:endParaRPr lang="en-US" sz="2100" dirty="0"/>
          </a:p>
        </p:txBody>
      </p:sp>
      <p:sp>
        <p:nvSpPr>
          <p:cNvPr id="8" name="Text 6"/>
          <p:cNvSpPr/>
          <p:nvPr/>
        </p:nvSpPr>
        <p:spPr>
          <a:xfrm>
            <a:off x="320040" y="6528816"/>
            <a:ext cx="5943600" cy="256032"/>
          </a:xfrm>
          <a:prstGeom prst="rect">
            <a:avLst/>
          </a:prstGeom>
          <a:noFill/>
          <a:ln/>
        </p:spPr>
        <p:txBody>
          <a:bodyPr wrap="square" rtlCol="0" anchor="b"/>
          <a:lstStyle/>
          <a:p>
            <a:pPr marL="0" indent="0" algn="l">
              <a:buNone/>
            </a:pPr>
            <a:r>
              <a:rPr lang="en-US" sz="850" i="1" dirty="0">
                <a:solidFill>
                  <a:srgbClr val="FFFFFF"/>
                </a:solidFill>
                <a:latin typeface="Calibri" pitchFamily="34" charset="0"/>
                <a:ea typeface="Calibri" pitchFamily="34" charset="-122"/>
                <a:cs typeface="Calibri" pitchFamily="34" charset="-120"/>
              </a:rPr>
              <a:t>© 2026 Messianic Hope, Inc. All rights reserved.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3877</Words>
  <Application>Microsoft Office PowerPoint</Application>
  <PresentationFormat>Widescreen</PresentationFormat>
  <Paragraphs>306</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Reppert</cp:lastModifiedBy>
  <cp:revision>1</cp:revision>
  <dcterms:created xsi:type="dcterms:W3CDTF">2026-08-05T21:08:17Z</dcterms:created>
  <dcterms:modified xsi:type="dcterms:W3CDTF">2026-08-05T22:21:57Z</dcterms:modified>
</cp:coreProperties>
</file>