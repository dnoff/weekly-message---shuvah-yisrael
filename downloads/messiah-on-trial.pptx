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382" r:id="rId3"/>
    <p:sldId id="319" r:id="rId4"/>
    <p:sldId id="320" r:id="rId5"/>
    <p:sldId id="321" r:id="rId6"/>
    <p:sldId id="322" r:id="rId7"/>
    <p:sldId id="323" r:id="rId8"/>
    <p:sldId id="324" r:id="rId9"/>
    <p:sldId id="326" r:id="rId10"/>
    <p:sldId id="328" r:id="rId11"/>
    <p:sldId id="329" r:id="rId12"/>
    <p:sldId id="383" r:id="rId13"/>
    <p:sldId id="330" r:id="rId14"/>
    <p:sldId id="331" r:id="rId15"/>
    <p:sldId id="332" r:id="rId16"/>
    <p:sldId id="384" r:id="rId17"/>
    <p:sldId id="333" r:id="rId18"/>
    <p:sldId id="334" r:id="rId19"/>
    <p:sldId id="335" r:id="rId20"/>
    <p:sldId id="336" r:id="rId21"/>
    <p:sldId id="337" r:id="rId22"/>
    <p:sldId id="338" r:id="rId23"/>
    <p:sldId id="385" r:id="rId24"/>
    <p:sldId id="339" r:id="rId25"/>
    <p:sldId id="340" r:id="rId26"/>
    <p:sldId id="341" r:id="rId27"/>
    <p:sldId id="386" r:id="rId28"/>
    <p:sldId id="345" r:id="rId29"/>
    <p:sldId id="346" r:id="rId30"/>
    <p:sldId id="347" r:id="rId31"/>
    <p:sldId id="348" r:id="rId32"/>
    <p:sldId id="349" r:id="rId33"/>
    <p:sldId id="350" r:id="rId34"/>
    <p:sldId id="351" r:id="rId35"/>
    <p:sldId id="352" r:id="rId36"/>
    <p:sldId id="353" r:id="rId37"/>
    <p:sldId id="354" r:id="rId38"/>
    <p:sldId id="387" r:id="rId39"/>
    <p:sldId id="355" r:id="rId40"/>
    <p:sldId id="388" r:id="rId41"/>
    <p:sldId id="356" r:id="rId42"/>
    <p:sldId id="357" r:id="rId43"/>
    <p:sldId id="358" r:id="rId44"/>
    <p:sldId id="359" r:id="rId45"/>
    <p:sldId id="389" r:id="rId46"/>
    <p:sldId id="360" r:id="rId47"/>
    <p:sldId id="361" r:id="rId48"/>
    <p:sldId id="362" r:id="rId49"/>
    <p:sldId id="363" r:id="rId50"/>
    <p:sldId id="364" r:id="rId51"/>
    <p:sldId id="390" r:id="rId52"/>
    <p:sldId id="365" r:id="rId53"/>
    <p:sldId id="366" r:id="rId54"/>
    <p:sldId id="367" r:id="rId55"/>
    <p:sldId id="368" r:id="rId56"/>
    <p:sldId id="391" r:id="rId57"/>
    <p:sldId id="392" r:id="rId58"/>
    <p:sldId id="369" r:id="rId59"/>
    <p:sldId id="370" r:id="rId60"/>
    <p:sldId id="371" r:id="rId61"/>
    <p:sldId id="372" r:id="rId62"/>
    <p:sldId id="393" r:id="rId63"/>
    <p:sldId id="373" r:id="rId64"/>
    <p:sldId id="374" r:id="rId65"/>
    <p:sldId id="375" r:id="rId66"/>
    <p:sldId id="376" r:id="rId67"/>
    <p:sldId id="377" r:id="rId68"/>
    <p:sldId id="378" r:id="rId69"/>
    <p:sldId id="394" r:id="rId70"/>
    <p:sldId id="395" r:id="rId71"/>
    <p:sldId id="318" r:id="rId7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116" y="9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199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33372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39971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88137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197442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191936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425740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49919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26085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89271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33576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312219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375391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848937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961159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73773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075534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599351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812340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05500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880715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460283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153627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60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09022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1634522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995545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0677682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9060870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7389586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6507330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150831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581418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1125456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442259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0293198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668048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1326957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859592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8907472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446742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987676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4101122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8689876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303470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399988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3066175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3842894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1784220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0338578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429423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1395218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291646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2507245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798189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2300767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6990139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2136770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817103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0591522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3416787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7573959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31661300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0578401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7936521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288103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1519351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773275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47328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341589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550164" y="18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MESSIAH ON TRIAL</a:t>
            </a:r>
            <a:endParaRPr lang="en-US" sz="6400" dirty="0"/>
          </a:p>
        </p:txBody>
      </p:sp>
      <p:sp>
        <p:nvSpPr>
          <p:cNvPr id="3" name="Text 1"/>
          <p:cNvSpPr txBox="1"/>
          <p:nvPr/>
        </p:nvSpPr>
        <p:spPr>
          <a:xfrm>
            <a:off x="550164" y="32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Who Does the Tanakh Say He Is?</a:t>
            </a:r>
            <a:endParaRPr lang="en-US" sz="36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I. FOUNDATION</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Does God Even Work This Way?</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The God of Abraham, Isaac, and Jacob has always</a:t>
            </a:r>
          </a:p>
          <a:p>
            <a:pPr marL="0" indent="0" algn="ctr">
              <a:buNone/>
            </a:pPr>
            <a:r>
              <a:rPr lang="en-US" sz="3200" dirty="0">
                <a:solidFill>
                  <a:srgbClr val="9AA0C0"/>
                </a:solidFill>
                <a:latin typeface="Calibri" pitchFamily="34" charset="0"/>
                <a:ea typeface="Calibri" pitchFamily="34" charset="-122"/>
                <a:cs typeface="Calibri" pitchFamily="34" charset="-120"/>
              </a:rPr>
              <a:t>drawn near to His people through a Person.</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 — THE BURNING BUSH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Exodus 3:2, 4, 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angel of the LORD appeared to him in a blazing fire from the midst of a bush.” … “Moses, Moses!” … “I am the God of your father, the God of Abraham, the God of Isaac, and the God of Jacob.”</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angel of the LORD is called “God” from the bush.</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a:t>
            </a:fld>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 — THE BURNING BUSH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Exodus 23:20–21</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“Behold, I am going to send an angel before you to guard you along the way and to bring you into the place which I have prepared. Be on your guard before him and obey his voice; do not be rebellious toward him, for he will not pardon your transgression, since My name is in him.”</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An angel who bears God’s own Name.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a:t>
            </a:fld>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2 — HAGAR</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16:13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“Then she called the name of the LORD who spoke to her, ‘You are a God who sees.’”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Hagar meets “the angel of the LORD” and names Him God.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a:t>
            </a:fld>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3 — THE LORD’S COMMANDER</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Joshua 5:13–15</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txBody>
          <a:bodyPr/>
          <a:lstStyle/>
          <a:p>
            <a:endParaRPr/>
          </a:p>
        </p:txBody>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“Are you for us or for our adversaries?” … “No; rather I indeed come now as captain of the host of the LORD.” … “Remove your sandals from your feet, for the place where you are standing is holy.”</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Joshua bows down, and the visitor does not correct him.</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a:t>
            </a:fld>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3 — THE LORD’S COMMANDER</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Joshua 6:2</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LORD said to Joshua, ‘See, I have given Jericho into your hand, with its king and the valiant warriors.’”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captain of the LORD’s host becomes, without a seam, the LORD.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7</a:t>
            </a:fld>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4 — ABRAHAM AND JACOB</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18:1, 22, 25</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“Now the LORD appeared to him by the oaks of Mamre.” … “Abraham was still standing before the LORD.” … “Shall not the Judge of all the earth deal justly?”</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Abraham sees three men; the Torah says “the LORD appeared.”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8</a:t>
            </a:fld>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4 — ABRAHAM AND JACOB</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19:24</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“Then the LORD rained on Sodom and Gomorrah brimstone and fire from the LORD out of heaven.”</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LORD on the earth, and the LORD in heaven.</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9</a:t>
            </a:fld>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4 — ABRAHAM AND JACOB</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32:28, 30</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“For you have striven with God and with men and have prevailed.” … “I have seen God face to face, yet my life has been preserved.”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Jacob wrestles through the night at the Jabbok.</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10</a:t>
            </a:fld>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4 — ABRAHAM AND JACOB</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Hosea 12:4–5</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txBody>
          <a:bodyPr/>
          <a:lstStyle/>
          <a:p>
            <a:endParaRPr/>
          </a:p>
        </p:txBody>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Jacob “wrestled with the angel and prevailed; He wept and sought His favor.” … “Even the LORD, the God of hosts, the LORD is His name.”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Hosea himself calls the One Jacob met “the LORD.”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11</a:t>
            </a:fld>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II. THE FIRST TESTIMONY</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A Promise Planted in the Torah</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From Moriah to Shiloh, the Torah plants a promise</a:t>
            </a:r>
          </a:p>
          <a:p>
            <a:pPr marL="0" indent="0" algn="ctr">
              <a:buNone/>
            </a:pPr>
            <a:r>
              <a:rPr lang="en-US" sz="3200" dirty="0">
                <a:solidFill>
                  <a:srgbClr val="9AA0C0"/>
                </a:solidFill>
                <a:latin typeface="Calibri" pitchFamily="34" charset="0"/>
                <a:ea typeface="Calibri" pitchFamily="34" charset="-122"/>
                <a:cs typeface="Calibri" pitchFamily="34" charset="-120"/>
              </a:rPr>
              <a:t>of provision and a ruler from Judah.</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5 — THE BINDING OF ISAAC</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22:7–8, 14</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“Behold, the fire and the wood, but where is the lamb for the burnt offering?” … “God will provide for Himself the lamb for the burnt offering, my son.” … “In the mount of the LORD it will be provided.”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promise spoken on Mount Moriah, waiting for its provision.</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13</a:t>
            </a:fld>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6 — SHILOH AND THE STAR</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49:10</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scepter shall not depart from Judah, nor the ruler’s staff from between his feet, until Shiloh comes, and to him shall be the obedience of the peoples.”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Jacob’s dying blessing of Judah.</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14</a:t>
            </a:fld>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6 — SHILOH AND THE STAR</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Numbers 24:17</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“I see him, but not now; I behold him, but not near; a star shall come forth from Jacob, a scepter shall rise from Israel.”</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Gentile prophet, hired to curse, sees the same ruler.</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15</a:t>
            </a:fld>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II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III. THE IDENTITY EXHIBITS</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Who Is This Person?</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Is He simply a gifted man, a wise king,</a:t>
            </a:r>
          </a:p>
          <a:p>
            <a:pPr marL="0" indent="0" algn="ctr">
              <a:buNone/>
            </a:pPr>
            <a:r>
              <a:rPr lang="en-US" sz="3200" dirty="0">
                <a:solidFill>
                  <a:srgbClr val="9AA0C0"/>
                </a:solidFill>
                <a:latin typeface="Calibri" pitchFamily="34" charset="0"/>
                <a:ea typeface="Calibri" pitchFamily="34" charset="-122"/>
                <a:cs typeface="Calibri" pitchFamily="34" charset="-120"/>
              </a:rPr>
              <a:t>and nothing more?</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7 — MIGHTY GOD</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9:6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“For a child will be born to us, a son will be given to us; and the government will rest on His shoulders; and His name will be called Wonderful Counselor, Mighty God, Eternal Father, Prince of Peace.”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child, fully human, carrying titles that belong to God alone.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17</a:t>
            </a:fld>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7 — MIGHTY GOD</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9:7</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“There will be no end to the increase of His government or of peace, on the throne of David and over his kingdom, to establish it and to uphold it with justice and righteousness from then on and forevermore. The zeal of the LORD of hosts will accomplish this.”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An everlasting government on David’s throne.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18</a:t>
            </a:fld>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8 — BETHLEHEM</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Micah 5:2</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“But as for you, Bethlehem Ephrathah, too little to be among the clans of Judah, from you One will go forth for Me to be ruler in Israel. His goings forth are from long ago, from the days of eternity.”</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Born in Bethlehem, yet from the days of eternity.</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19</a:t>
            </a:fld>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9 — DAVID’S LORD</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110:1</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LORD says to my Lord: ‘Sit at My right hand until I make Your enemies a footstool for Your feet.’”</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David calls someone his own Lord.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20</a:t>
            </a:fld>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10 — THE SON OF MAN</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Daniel 7:13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“And behold, with the clouds of heaven One like a Son of Man was coming, and He came up to the Ancient of Days and was presented before Him.”</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He comes to the Ancient of Days; He doesn’t replace Him.</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21</a:t>
            </a:fld>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10 — THE SON OF MAN</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Daniel 7:14</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“And to Him was given dominion, glory and a kingdom, that all the peoples, nations, and men of every language might serve Him. His dominion is an everlasting dominion which will not pass away; and His kingdom is one which will not be destroyed.”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Man in the presence of God, given an everlasting kingdom.</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22</a:t>
            </a:fld>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IV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IV. THE CHARGE</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Who Is Really on Trial?</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Not the Messiah. You. Me. Every one of us.</a:t>
            </a:r>
          </a:p>
          <a:p>
            <a:pPr marL="0" indent="0" algn="ctr">
              <a:buNone/>
            </a:pPr>
            <a:r>
              <a:rPr lang="en-US" sz="3200" dirty="0">
                <a:solidFill>
                  <a:srgbClr val="9AA0C0"/>
                </a:solidFill>
                <a:latin typeface="Calibri" pitchFamily="34" charset="0"/>
                <a:ea typeface="Calibri" pitchFamily="34" charset="-122"/>
                <a:cs typeface="Calibri" pitchFamily="34" charset="-120"/>
              </a:rPr>
              <a:t>What has God done about the charge against me?</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Ecclesiastes 7:20</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“Indeed, there is not a righteous man on earth who continually does good and who never sins.”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Solomon: the charge is universal.</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24</a:t>
            </a:fld>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64:6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“For all of us have become like one who is unclean, and all our righteous deeds are like a filthy garment.”</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Not our sins only, but our righteous deeds.</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25</a:t>
            </a:fld>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Jeremiah 17:9</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heart is more deceitful than all else and is desperately sick; who can understand it?”</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Jewish kings and prophets, speaking about themselves.</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26</a:t>
            </a:fld>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V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V. THE SUFFERING EXHIBITS</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The Most Contested Testimony</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The suffering Servant, the pierced One,</a:t>
            </a:r>
          </a:p>
          <a:p>
            <a:pPr marL="0" indent="0" algn="ctr">
              <a:buNone/>
            </a:pPr>
            <a:r>
              <a:rPr lang="en-US" sz="3200" dirty="0">
                <a:solidFill>
                  <a:srgbClr val="9AA0C0"/>
                </a:solidFill>
                <a:latin typeface="Calibri" pitchFamily="34" charset="0"/>
                <a:ea typeface="Calibri" pitchFamily="34" charset="-122"/>
                <a:cs typeface="Calibri" pitchFamily="34" charset="-120"/>
              </a:rPr>
              <a:t>and the timing of Daniel 9.</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“He was despised and forsaken of men, a man of sorrows and acquainted with grief; and like one from whom men hide their face He was despised, and we did not esteem Him.”</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jury’s verdict on the Servant.</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28</a:t>
            </a:fld>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53:4–5</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“Surely our griefs He Himself bore, and our sorrows He carried; yet we ourselves esteemed Him stricken, smitten of God, and afflicted. But He was pierced through for our transgressions, He was crushed for our iniquities; the chastening for our well-being fell upon Him, and by His scourging we are healed.”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jury got it wrong: He was bearing our case.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29</a:t>
            </a:fld>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“All of us like sheep have gone astray, each of us has turned to his own way; but the LORD has caused the iniquity of us all to fall on Him.”</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diagnosis of the whole chapter.</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30</a:t>
            </a:fld>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53:7</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“He was oppressed and He was afflicted, yet He did not open His mouth; like a lamb that is led to slaughter, and like a sheep that is silent before its shearers, so He did not open His mouth.”</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Servant’s silent suffering.</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31</a:t>
            </a:fld>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53:8–9</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“By oppression and judgment He was taken away; and as for His generation, who considered that He was cut off out of the land of the living for the transgression of my people, to whom the stroke was due? His grave was assigned with wicked men, yet He was with a rich man in His death, because He had done no violence, nor was there any deceit in His mouth.”</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Cut off “for the transgression of my people.”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32</a:t>
            </a:fld>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49:3, 5–6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Servant is called “Israel.” … Formed “from the womb to be His Servant, to bring Jacob back to Him, so that Israel might be gathered to Him.”</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Servant can’t be both brought back and the one bringing.</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33</a:t>
            </a:fld>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53:10</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After His life is made “a guilt offering,” He will “see His offspring,” He will “prolong His days.”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Cut off in verse 8; alive again, with a future, in verse 10.</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34</a:t>
            </a:fld>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11 — THE SUFFERING SERVANT</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53:11–12</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“As a result of the anguish of His soul, He will see it and be satisfied.” … He “poured out Himself to death,” and yet He “bore the sin of many, and interceded for the transgressors.”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dead man doesn’t intercede. This Servant does.</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35</a:t>
            </a:fld>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12 — THE PIERCED ONE</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Zechariah 12:10</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ctr">
              <a:lnSpc>
                <a:spcPct val="105000"/>
              </a:lnSpc>
              <a:buNone/>
            </a:pPr>
            <a:r>
              <a:rPr lang="en-US" sz="3200" i="1" dirty="0">
                <a:solidFill>
                  <a:srgbClr val="141B4D"/>
                </a:solidFill>
                <a:latin typeface="Cambria" pitchFamily="34" charset="0"/>
                <a:ea typeface="Cambria" pitchFamily="34" charset="-122"/>
                <a:cs typeface="Cambria" pitchFamily="34" charset="-120"/>
              </a:rPr>
              <a:t>“They will look on Me whom they have pierced.”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God speaks in the first person: “Me.”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36</a:t>
            </a:fld>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13 — THE TIMING</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Daniel 9:26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 Messiah will be cut off and have nothing,” … “the people of the prince who is to come will destroy the city and the sanctuary.”</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Anointed One is cut off before the Temple falls in 70.</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37</a:t>
            </a:fld>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V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VI. THE BLOOD PROVISION</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Why Is Bloodshed Necessary?</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Atonement, in the Torah’s own words,</a:t>
            </a:r>
          </a:p>
          <a:p>
            <a:pPr marL="0" indent="0" algn="ctr">
              <a:buNone/>
            </a:pPr>
            <a:r>
              <a:rPr lang="en-US" sz="3200" dirty="0">
                <a:solidFill>
                  <a:srgbClr val="9AA0C0"/>
                </a:solidFill>
                <a:latin typeface="Calibri" pitchFamily="34" charset="0"/>
                <a:ea typeface="Calibri" pitchFamily="34" charset="-122"/>
                <a:cs typeface="Calibri" pitchFamily="34" charset="-120"/>
              </a:rPr>
              <a:t>is God’s gift, not man’s achievement.</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14 — THE BLOOD PROVISION</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Leviticus 17:11</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“For the life of the flesh is in the blood, and I have given it to you on the altar to make atonement for your souls; for it is the blood by reason of the life that makes atonement.”</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Atonement is God’s gift, not man’s achievement.</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39</a:t>
            </a:fld>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VI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VII. RESURRECTION &amp; REIGN</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Suffering Before Glory</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If the Servant dies bearing our sin, the Tanakh</a:t>
            </a:r>
          </a:p>
          <a:p>
            <a:pPr marL="0" indent="0" algn="ctr">
              <a:buNone/>
            </a:pPr>
            <a:r>
              <a:rPr lang="en-US" sz="3200" dirty="0">
                <a:solidFill>
                  <a:srgbClr val="9AA0C0"/>
                </a:solidFill>
                <a:latin typeface="Calibri" pitchFamily="34" charset="0"/>
                <a:ea typeface="Calibri" pitchFamily="34" charset="-122"/>
                <a:cs typeface="Calibri" pitchFamily="34" charset="-120"/>
              </a:rPr>
              <a:t>must also testify to resurrection and reign.</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15 — PSALM 16</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16:10</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“For You will not abandon my soul to Sheol; nor will You allow Your Holy One to undergo decay.”</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Tanakh testifies to resurrection.</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41</a:t>
            </a:fld>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16 — JOB</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Job 19:25–26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txBody>
          <a:bodyPr/>
          <a:lstStyle/>
          <a:p>
            <a:endParaRPr/>
          </a:p>
        </p:txBody>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“As for me, I know that my Redeemer lives, and at the last He will take His stand on the earth. Even after my skin is destroyed, yet from my flesh I shall see God.”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Job expected to see God in his own flesh after death.</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42</a:t>
            </a:fld>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17 — THE RESURRECTION</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Daniel 12:2–3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“Many of those who sleep in the dust of the ground will awake, these to everlasting life, but the others to disgrace and everlasting contempt. Those who have insight will shine brightly like the brightness of the expanse of heaven, and those who lead the many to righteousness, like the stars forever and ever.”</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Resurrection to everlasting life.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43</a:t>
            </a:fld>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EXHIBIT 18 — THE KINGDOM OF PEACE</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11:6, 9</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“And the wolf will dwell with the lamb, and the leopard will lie down with the young goat, and the calf and the young lion and the fatling together; and a little boy will lead them … They will not hurt or destroy in all My holy mountain, for the earth will be full of the knowledge of the LORD as the waters cover the sea.”</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suffering before the glory: Isaiah 53 before Isaiah 11.</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44</a:t>
            </a:fld>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VII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VIII. THE YEAR 70 CE</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What Happened When the Temple Fell</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The Temple was destroyed, and the altar with it.</a:t>
            </a:r>
          </a:p>
          <a:p>
            <a:pPr marL="0" indent="0" algn="ctr">
              <a:buNone/>
            </a:pPr>
            <a:r>
              <a:rPr lang="en-US" sz="3200" dirty="0">
                <a:solidFill>
                  <a:srgbClr val="9AA0C0"/>
                </a:solidFill>
                <a:latin typeface="Calibri" pitchFamily="34" charset="0"/>
                <a:ea typeface="Calibri" pitchFamily="34" charset="-122"/>
                <a:cs typeface="Calibri" pitchFamily="34" charset="-120"/>
              </a:rPr>
              <a:t>Our own prophets promised something more.</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Hosea 6:6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ctr">
              <a:lnSpc>
                <a:spcPct val="105000"/>
              </a:lnSpc>
              <a:buNone/>
            </a:pPr>
            <a:r>
              <a:rPr lang="en-US" sz="3200" i="1" dirty="0">
                <a:solidFill>
                  <a:srgbClr val="141B4D"/>
                </a:solidFill>
                <a:latin typeface="Cambria" pitchFamily="34" charset="0"/>
                <a:ea typeface="Cambria" pitchFamily="34" charset="-122"/>
                <a:cs typeface="Cambria" pitchFamily="34" charset="-120"/>
              </a:rPr>
              <a:t>“I delight in loyalty rather than sacrifice.”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rabbinic answer after the Temple fell.</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46</a:t>
            </a:fld>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Jeremiah 31:31–32</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“Behold, days are coming,” declares the LORD, “when I will make a new covenant with the house of Israel and with the house of Judah …”</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Promised before the Temple fell, while the altar still burned.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47</a:t>
            </a:fld>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Jeremiah 31:33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“I will put My law within them and on their heart, I will write it; and I will be their God, and they shall be My people.”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covenant written on the heart.</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48</a:t>
            </a:fld>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Jeremiah 31:34</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“They will not teach again, each man his neighbor and each man his brother, saying, ‘Know the LORD,’ for they will all know Me, from the least of them to the greatest of them,” declares the LORD, “for I will forgive their iniquity, and their sin I will remember no more.”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Every person knows Him. The ground of it: “I will forgive.”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49</a:t>
            </a:fld>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Ezekiel 36:26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“Moreover, I will give you a new heart and put a new spirit within you; and I will remove the heart of stone from your flesh and give you a heart of flesh.”</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Not a system, but a relationship.</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50</a:t>
            </a:fld>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IX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IX. CROSS-EXAMINATION</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The Rival Explanation</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“My own efforts and my people are enough.”</a:t>
            </a:r>
          </a:p>
          <a:p>
            <a:pPr marL="0" indent="0" algn="ctr">
              <a:buNone/>
            </a:pPr>
            <a:r>
              <a:rPr lang="en-US" sz="3200" dirty="0">
                <a:solidFill>
                  <a:srgbClr val="9AA0C0"/>
                </a:solidFill>
                <a:latin typeface="Calibri" pitchFamily="34" charset="0"/>
                <a:ea typeface="Calibri" pitchFamily="34" charset="-122"/>
                <a:cs typeface="Calibri" pitchFamily="34" charset="-120"/>
              </a:rPr>
              <a:t>Let’s put the rival explanation to the Tanakh.</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Micah 6:8</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“He has told you, O man, what is good; and what does the LORD require of you but to do justice, to love kindness, and to walk humbly with your God?”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What God requires.</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52</a:t>
            </a:fld>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Micah 7:18–19</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“Who is a God like You, who pardons iniquity and passes over the rebellious act of the remnant of His possession? … He will again have compassion on us; He will tread our iniquities under foot. Yes, You will cast all their sins into the depths of the sea.”</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“He will.” Not “we will.”</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53</a:t>
            </a:fld>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49:7–8</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“No man can by any means redeem his brother or give to God a ransom for him — for the redemption of his soul is costly, and he should cease trying forever.”</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Not “hard.” Costly.</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54</a:t>
            </a:fld>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49:15</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“But God will redeem my soul from the power of Sheol, for He will receive me.”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turn: God Himself will redeem.</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55</a:t>
            </a:fld>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X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X. CLOSING ARGUMENT</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Has the Evidence Been Clear and Convincing?</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A Messiah-Redeemer, divine and human, suffering</a:t>
            </a:r>
          </a:p>
          <a:p>
            <a:pPr marL="0" indent="0" algn="ctr">
              <a:buNone/>
            </a:pPr>
            <a:r>
              <a:rPr lang="en-US" sz="3200" dirty="0">
                <a:solidFill>
                  <a:srgbClr val="9AA0C0"/>
                </a:solidFill>
                <a:latin typeface="Calibri" pitchFamily="34" charset="0"/>
                <a:ea typeface="Calibri" pitchFamily="34" charset="-122"/>
                <a:cs typeface="Calibri" pitchFamily="34" charset="-120"/>
              </a:rPr>
              <a:t>and reigning, pierced and yet alive.</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X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XI. THE VERDICT</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Naming the Witness</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So, who is He?</a:t>
            </a:r>
          </a:p>
          <a:p>
            <a:pPr marL="0" indent="0" algn="ctr">
              <a:buNone/>
            </a:pPr>
            <a:r>
              <a:rPr lang="en-US" sz="3200" dirty="0">
                <a:solidFill>
                  <a:srgbClr val="9AA0C0"/>
                </a:solidFill>
                <a:latin typeface="Calibri" pitchFamily="34" charset="0"/>
                <a:ea typeface="Calibri" pitchFamily="34" charset="-122"/>
                <a:cs typeface="Calibri" pitchFamily="34" charset="-120"/>
              </a:rPr>
              <a:t>The Tanakh leaves us a clue to His name.</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12:2</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“Behold, God is my salvation, I will trust and not be afraid; for the LORD GOD is my strength and song, and He has become my salvation.”</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LORD Himself becomes our yeshuah, our salvation.</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58</a:t>
            </a:fld>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118:21–22</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“I shall give thanks to You, for You have answered me, and You have become my salvation.” … “The stone which the builders rejected has become the chief corner stone.”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Sung at every Passover table.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59</a:t>
            </a:fld>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118:26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ctr">
              <a:lnSpc>
                <a:spcPct val="105000"/>
              </a:lnSpc>
              <a:buNone/>
            </a:pPr>
            <a:r>
              <a:rPr lang="en-US" sz="3200" i="1" dirty="0">
                <a:solidFill>
                  <a:srgbClr val="141B4D"/>
                </a:solidFill>
                <a:latin typeface="Cambria" pitchFamily="34" charset="0"/>
                <a:ea typeface="Cambria" pitchFamily="34" charset="-122"/>
                <a:cs typeface="Cambria" pitchFamily="34" charset="-120"/>
              </a:rPr>
              <a:t>“Blessed is the one who comes in the name of the LORD.”</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rejected stone, and One who comes in the LORD’s name.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60</a:t>
            </a:fld>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Psalm 110:4</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ctr">
              <a:lnSpc>
                <a:spcPct val="105000"/>
              </a:lnSpc>
              <a:buNone/>
            </a:pPr>
            <a:r>
              <a:rPr lang="en-US" sz="3200" i="1" dirty="0">
                <a:solidFill>
                  <a:srgbClr val="141B4D"/>
                </a:solidFill>
                <a:latin typeface="Cambria" pitchFamily="34" charset="0"/>
                <a:ea typeface="Cambria" pitchFamily="34" charset="-122"/>
                <a:cs typeface="Cambria" pitchFamily="34" charset="-120"/>
              </a:rPr>
              <a:t>“A priest forever according to the order of Melchizedek.”</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A priesthood older than Aaron’s.</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61</a:t>
            </a:fld>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XII section">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1250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XII. YOUR VERDICT</a:t>
            </a:r>
            <a:endParaRPr lang="en-US" sz="6400" dirty="0"/>
          </a:p>
        </p:txBody>
      </p:sp>
      <p:sp>
        <p:nvSpPr>
          <p:cNvPr id="3" name="Text 1"/>
          <p:cNvSpPr txBox="1"/>
          <p:nvPr/>
        </p:nvSpPr>
        <p:spPr>
          <a:xfrm>
            <a:off x="649649" y="2600000"/>
            <a:ext cx="11091672" cy="700000"/>
          </a:xfrm>
          <a:prstGeom prst="rect">
            <a:avLst/>
          </a:prstGeom>
          <a:noFill/>
          <a:ln/>
        </p:spPr>
        <p:txBody>
          <a:bodyPr wrap="square" lIns="0" tIns="0" rIns="0" bIns="0" rtlCol="0" anchor="ctr"/>
          <a:lstStyle/>
          <a:p>
            <a:pPr marL="0" indent="0" algn="ctr">
              <a:buNone/>
            </a:pPr>
            <a:r>
              <a:rPr lang="en-US" sz="3600" i="1" dirty="0">
                <a:solidFill>
                  <a:srgbClr val="C9A227"/>
                </a:solidFill>
                <a:latin typeface="Cambria" pitchFamily="34" charset="0"/>
                <a:ea typeface="Cambria" pitchFamily="34" charset="-122"/>
                <a:cs typeface="Cambria" pitchFamily="34" charset="-120"/>
              </a:rPr>
              <a:t>The Jury Renders a Verdict</a:t>
            </a:r>
            <a:endParaRPr lang="en-US" sz="3600" dirty="0"/>
          </a:p>
        </p:txBody>
      </p:sp>
      <p:sp>
        <p:nvSpPr>
          <p:cNvPr id="5" name="Text 3"/>
          <p:cNvSpPr txBox="1"/>
          <p:nvPr/>
        </p:nvSpPr>
        <p:spPr>
          <a:xfrm>
            <a:off x="731520" y="4300000"/>
            <a:ext cx="10725912" cy="1280160"/>
          </a:xfrm>
          <a:prstGeom prst="rect">
            <a:avLst/>
          </a:prstGeom>
          <a:noFill/>
          <a:ln/>
        </p:spPr>
        <p:txBody>
          <a:bodyPr wrap="square" lIns="0" tIns="0" rIns="0" bIns="0" rtlCol="0" anchor="ctr"/>
          <a:lstStyle/>
          <a:p>
            <a:pPr marL="0" indent="0" algn="ctr">
              <a:buNone/>
            </a:pPr>
            <a:r>
              <a:rPr lang="en-US" sz="3200" dirty="0">
                <a:solidFill>
                  <a:srgbClr val="9AA0C0"/>
                </a:solidFill>
                <a:latin typeface="Calibri" pitchFamily="34" charset="0"/>
                <a:ea typeface="Calibri" pitchFamily="34" charset="-122"/>
                <a:cs typeface="Calibri" pitchFamily="34" charset="-120"/>
              </a:rPr>
              <a:t>None of our own efforts was ever the remedy.</a:t>
            </a:r>
          </a:p>
          <a:p>
            <a:pPr marL="0" indent="0" algn="ctr">
              <a:buNone/>
            </a:pPr>
            <a:r>
              <a:rPr lang="en-US" sz="3200" dirty="0">
                <a:solidFill>
                  <a:srgbClr val="9AA0C0"/>
                </a:solidFill>
                <a:latin typeface="Calibri" pitchFamily="34" charset="0"/>
                <a:ea typeface="Calibri" pitchFamily="34" charset="-122"/>
                <a:cs typeface="Calibri" pitchFamily="34" charset="-120"/>
              </a:rPr>
              <a:t>The remedy is a gift: return, not earn.</a:t>
            </a:r>
            <a:endParaRPr lang="en-US" sz="32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55:1–3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“Ho! Every one who thirsts, come to the waters; and you who have no money come, buy and eat. Come, buy wine and milk without money and without cost … Incline your ear and come to Me. Listen, that you may live.”</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Without money. Without cost.</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63</a:t>
            </a:fld>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Isaiah 55:7</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“Let the wicked forsake his way and the unrighteous man his thoughts; and let him return to the LORD, and He will have compassion on him, and to our God, for He will abundantly pardon.”</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Return. Not earn. Return.</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64</a:t>
            </a:fld>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Genesis 15:6</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Abraham “believed in the LORD; and He reckoned it to him as righteousness.”</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Emunah: trust.</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65</a:t>
            </a:fld>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Habakkuk 2:4</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ctr">
              <a:lnSpc>
                <a:spcPct val="105000"/>
              </a:lnSpc>
              <a:buNone/>
            </a:pPr>
            <a:r>
              <a:rPr lang="en-US" sz="3200" i="1" dirty="0">
                <a:solidFill>
                  <a:srgbClr val="141B4D"/>
                </a:solidFill>
                <a:latin typeface="Cambria" pitchFamily="34" charset="0"/>
                <a:ea typeface="Cambria" pitchFamily="34" charset="-122"/>
                <a:cs typeface="Cambria" pitchFamily="34" charset="-120"/>
              </a:rPr>
              <a:t>“But the righteous will live by his faith.”</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Faith takes hold of what God has provided.</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66</a:t>
            </a:fld>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Ezekiel 33:11</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“As I live!” declares the Lord GOD, “I take no pleasure in the death of the wicked, but rather that the wicked turn from his way and live. Turn back, turn back from your evil ways! Why then will you die, O house of Israel?”</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The heart of the One who gave the evidence.</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67</a:t>
            </a:fld>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457200" y="256032"/>
            <a:ext cx="9875520" cy="457200"/>
          </a:xfrm>
          <a:prstGeom prst="rect">
            <a:avLst/>
          </a:prstGeom>
          <a:noFill/>
          <a:ln/>
        </p:spPr>
        <p:txBody>
          <a:bodyPr wrap="square" lIns="0" tIns="0" rIns="0" bIns="0" rtlCol="0" anchor="ctr"/>
          <a:lstStyle/>
          <a:p>
            <a:pPr marL="0" indent="0">
              <a:buNone/>
            </a:pPr>
            <a:r>
              <a:rPr lang="en-US" sz="3200" b="1" kern="0" spc="100" dirty="0">
                <a:solidFill>
                  <a:srgbClr val="C9A227"/>
                </a:solidFill>
                <a:latin typeface="Calibri" pitchFamily="34" charset="0"/>
                <a:ea typeface="Calibri" pitchFamily="34" charset="-122"/>
                <a:cs typeface="Calibri" pitchFamily="34" charset="-120"/>
              </a:rPr>
              <a:t>SCRIPTURE — TANAKH</a:t>
            </a:r>
            <a:endParaRPr lang="en-US" sz="3200" dirty="0"/>
          </a:p>
        </p:txBody>
      </p:sp>
      <p:sp>
        <p:nvSpPr>
          <p:cNvPr id="5" name="Text 3"/>
          <p:cNvSpPr txBox="1"/>
          <p:nvPr/>
        </p:nvSpPr>
        <p:spPr>
          <a:xfrm>
            <a:off x="457200" y="749808"/>
            <a:ext cx="9966960" cy="731520"/>
          </a:xfrm>
          <a:prstGeom prst="rect">
            <a:avLst/>
          </a:prstGeom>
          <a:noFill/>
          <a:ln/>
        </p:spPr>
        <p:txBody>
          <a:bodyPr wrap="square" lIns="0" tIns="0" rIns="0" bIns="0" rtlCol="0" anchor="t"/>
          <a:lstStyle/>
          <a:p>
            <a:pPr marL="0" indent="0">
              <a:buNone/>
            </a:pPr>
            <a:r>
              <a:rPr lang="en-US" sz="4000" b="1" dirty="0">
                <a:solidFill>
                  <a:srgbClr val="1E2761"/>
                </a:solidFill>
                <a:latin typeface="Cambria" pitchFamily="34" charset="0"/>
                <a:ea typeface="Cambria" pitchFamily="34" charset="-122"/>
                <a:cs typeface="Cambria" pitchFamily="34" charset="-120"/>
              </a:rPr>
              <a:t>Joel 2:12–13</a:t>
            </a:r>
            <a:endParaRPr lang="en-US" sz="4000" dirty="0"/>
          </a:p>
        </p:txBody>
      </p:sp>
      <p:sp>
        <p:nvSpPr>
          <p:cNvPr id="6" name="Shape 4"/>
          <p:cNvSpPr/>
          <p:nvPr/>
        </p:nvSpPr>
        <p:spPr>
          <a:xfrm>
            <a:off x="457200" y="1536192"/>
            <a:ext cx="11274552" cy="3858768"/>
          </a:xfrm>
          <a:prstGeom prst="roundRect">
            <a:avLst>
              <a:gd name="adj" fmla="val 1896"/>
            </a:avLst>
          </a:prstGeom>
          <a:solidFill>
            <a:srgbClr val="FBF4DE"/>
          </a:solidFill>
          <a:ln/>
        </p:spPr>
      </p:sp>
      <p:sp>
        <p:nvSpPr>
          <p:cNvPr id="7" name="Text 5"/>
          <p:cNvSpPr txBox="1"/>
          <p:nvPr/>
        </p:nvSpPr>
        <p:spPr>
          <a:xfrm>
            <a:off x="868680" y="1691640"/>
            <a:ext cx="10451592" cy="3566160"/>
          </a:xfrm>
          <a:prstGeom prst="rect">
            <a:avLst/>
          </a:prstGeom>
          <a:noFill/>
          <a:ln/>
        </p:spPr>
        <p:txBody>
          <a:bodyPr wrap="square" lIns="0" tIns="0" rIns="0" bIns="0" rtlCol="0" anchor="ctr"/>
          <a:lstStyle/>
          <a:p>
            <a:pPr marL="0" indent="0" algn="l">
              <a:lnSpc>
                <a:spcPct val="105000"/>
              </a:lnSpc>
              <a:buNone/>
            </a:pPr>
            <a:r>
              <a:rPr lang="en-US" sz="3200" i="1" dirty="0">
                <a:solidFill>
                  <a:srgbClr val="141B4D"/>
                </a:solidFill>
                <a:latin typeface="Cambria" pitchFamily="34" charset="0"/>
                <a:ea typeface="Cambria" pitchFamily="34" charset="-122"/>
                <a:cs typeface="Cambria" pitchFamily="34" charset="-120"/>
              </a:rPr>
              <a:t>“Yet even now,” declares the LORD, “Return to Me with all your heart, and with fasting, weeping and mourning; and rend your heart and not your garments.” Now return to the LORD your God, for He is gracious and compassionate, slow to anger, abounding in lovingkindness and relenting of evil.</a:t>
            </a:r>
            <a:endParaRPr lang="en-US" sz="3200" dirty="0"/>
          </a:p>
        </p:txBody>
      </p:sp>
      <p:sp>
        <p:nvSpPr>
          <p:cNvPr id="8" name="Text 6"/>
          <p:cNvSpPr txBox="1"/>
          <p:nvPr/>
        </p:nvSpPr>
        <p:spPr>
          <a:xfrm>
            <a:off x="457200" y="5532120"/>
            <a:ext cx="11274552" cy="576072"/>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That is who is asking you this morning.</a:t>
            </a:r>
            <a:endParaRPr lang="en-US" sz="3200" dirty="0"/>
          </a:p>
        </p:txBody>
      </p:sp>
      <p:sp>
        <p:nvSpPr>
          <p:cNvPr id="10" name="Text 10">
            <a:extLst>
              <a:ext uri="{FF2B5EF4-FFF2-40B4-BE49-F238E27FC236}">
                <a16:creationId xmlns:a16="http://schemas.microsoft.com/office/drawing/2014/main" id="{3B31DD80-9F78-FE82-F697-CB0E9E9AE825}"/>
              </a:ext>
            </a:extLst>
          </p:cNvPr>
          <p:cNvSpPr/>
          <p:nvPr/>
        </p:nvSpPr>
        <p:spPr>
          <a:xfrm>
            <a:off x="457200" y="6355080"/>
            <a:ext cx="10911535" cy="411480"/>
          </a:xfrm>
          <a:prstGeom prst="rect">
            <a:avLst/>
          </a:prstGeom>
          <a:noFill/>
          <a:ln/>
        </p:spPr>
        <p:txBody>
          <a:bodyPr wrap="square" rtlCol="0" anchor="ctr"/>
          <a:lstStyle/>
          <a:p>
            <a:pPr marL="0" indent="0">
              <a:buNone/>
            </a:pPr>
            <a:r>
              <a:rPr lang="en-US" sz="2400" dirty="0">
                <a:solidFill>
                  <a:srgbClr val="9AA0AC"/>
                </a:solidFill>
                <a:latin typeface="Calibri" pitchFamily="34" charset="0"/>
                <a:ea typeface="Calibri" pitchFamily="34" charset="-122"/>
                <a:cs typeface="Calibri" pitchFamily="34" charset="-120"/>
              </a:rPr>
              <a:t>© 2026 Messianic Hope, Inc. All rights reserved.</a:t>
            </a:r>
            <a:endParaRPr lang="en-US" sz="2400" dirty="0"/>
          </a:p>
        </p:txBody>
      </p:sp>
      <p:sp>
        <p:nvSpPr>
          <p:cNvPr id="11" name="Slide Number"/>
          <p:cNvSpPr txBox="1"/>
          <p:nvPr/>
        </p:nvSpPr>
        <p:spPr>
          <a:xfrm>
            <a:off x="11368735" y="6355080"/>
            <a:ext cx="823265" cy="411480"/>
          </a:xfrm>
          <a:prstGeom prst="rect">
            <a:avLst/>
          </a:prstGeom>
          <a:noFill/>
          <a:ln/>
        </p:spPr>
        <p:txBody>
          <a:bodyPr wrap="square" lIns="0" rIns="457200" rtlCol="0" anchor="ctr"/>
          <a:lstStyle/>
          <a:p>
            <a:pPr marL="0" indent="0" algn="r">
              <a:buNone/>
            </a:pPr>
            <a:fld id="{B6F15528-21DE-4FAA-801E-634DDDAF4B2B}" type="slidenum">
              <a:rPr lang="en-US" sz="2400" dirty="0">
                <a:solidFill>
                  <a:srgbClr val="9AA0AC"/>
                </a:solidFill>
                <a:latin typeface="Calibri" pitchFamily="34" charset="0"/>
                <a:ea typeface="Calibri" pitchFamily="34" charset="-122"/>
                <a:cs typeface="Calibri" pitchFamily="34" charset="-120"/>
              </a:rPr>
              <a:t>68</a:t>
            </a:fld>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41B4D"/>
        </a:solidFill>
        <a:effectLst/>
      </p:bgPr>
    </p:bg>
    <p:spTree>
      <p:nvGrpSpPr>
        <p:cNvPr id="1" name=""/>
        <p:cNvGrpSpPr/>
        <p:nvPr/>
      </p:nvGrpSpPr>
      <p:grpSpPr>
        <a:xfrm>
          <a:off x="0" y="0"/>
          <a:ext cx="0" cy="0"/>
          <a:chOff x="0" y="0"/>
          <a:chExt cx="0" cy="0"/>
        </a:xfrm>
      </p:grpSpPr>
      <p:sp>
        <p:nvSpPr>
          <p:cNvPr id="2" name="Text 0"/>
          <p:cNvSpPr txBox="1"/>
          <p:nvPr/>
        </p:nvSpPr>
        <p:spPr>
          <a:xfrm>
            <a:off x="649649" y="2829000"/>
            <a:ext cx="11091672" cy="120000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YOUR INVITATION</a:t>
            </a:r>
            <a:endParaRPr lang="en-US" sz="6400" dirty="0"/>
          </a:p>
        </p:txBody>
      </p:sp>
      <p:sp>
        <p:nvSpPr>
          <p:cNvPr id="16" name="Text 4">
            <a:extLst>
              <a:ext uri="{FF2B5EF4-FFF2-40B4-BE49-F238E27FC236}">
                <a16:creationId xmlns:a16="http://schemas.microsoft.com/office/drawing/2014/main" id="{7609BE4F-8E85-AEFA-E819-036434794710}"/>
              </a:ext>
            </a:extLst>
          </p:cNvPr>
          <p:cNvSpPr/>
          <p:nvPr/>
        </p:nvSpPr>
        <p:spPr>
          <a:xfrm>
            <a:off x="823113" y="6355080"/>
            <a:ext cx="10545775" cy="411480"/>
          </a:xfrm>
          <a:prstGeom prst="rect">
            <a:avLst/>
          </a:prstGeom>
          <a:noFill/>
          <a:ln/>
        </p:spPr>
        <p:txBody>
          <a:bodyPr wrap="square" rtlCol="0" anchor="ctr"/>
          <a:lstStyle/>
          <a:p>
            <a:pPr marL="0" indent="0" algn="ctr">
              <a:buNone/>
            </a:pPr>
            <a:r>
              <a:rPr lang="en-US" sz="2400" dirty="0">
                <a:solidFill>
                  <a:srgbClr val="9AA3C0"/>
                </a:solidFill>
                <a:latin typeface="Calibri" pitchFamily="34" charset="0"/>
                <a:ea typeface="Calibri" pitchFamily="34" charset="-122"/>
                <a:cs typeface="Calibri" pitchFamily="34" charset="-120"/>
              </a:rPr>
              <a:t>© 2026 Messianic Hope, Inc. All rights reserved.</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41B4D"/>
        </a:solid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41B47"/>
        </a:solidFill>
        <a:effectLst/>
      </p:bgPr>
    </p:bg>
    <p:spTree>
      <p:nvGrpSpPr>
        <p:cNvPr id="1" name=""/>
        <p:cNvGrpSpPr/>
        <p:nvPr/>
      </p:nvGrpSpPr>
      <p:grpSpPr>
        <a:xfrm>
          <a:off x="0" y="0"/>
          <a:ext cx="0" cy="0"/>
          <a:chOff x="0" y="0"/>
          <a:chExt cx="0" cy="0"/>
        </a:xfrm>
      </p:grpSpPr>
      <p:sp>
        <p:nvSpPr>
          <p:cNvPr id="3" name="Text 1"/>
          <p:cNvSpPr/>
          <p:nvPr/>
        </p:nvSpPr>
        <p:spPr>
          <a:xfrm>
            <a:off x="822960" y="584709"/>
            <a:ext cx="10545775" cy="914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Where To Go From Here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22960" y="1538450"/>
            <a:ext cx="10545775" cy="1051560"/>
          </a:xfrm>
          <a:prstGeom prst="rect">
            <a:avLst/>
          </a:prstGeom>
          <a:noFill/>
          <a:ln/>
        </p:spPr>
        <p:txBody>
          <a:bodyPr wrap="square" rtlCol="0" anchor="t"/>
          <a:lstStyle/>
          <a:p>
            <a:pPr marL="457200" marR="0" lvl="0" indent="-457200" algn="l" defTabSz="914400" rtl="0" eaLnBrk="1" fontAlgn="auto" latinLnBrk="0" hangingPunct="1">
              <a:lnSpc>
                <a:spcPct val="118000"/>
              </a:lnSpc>
              <a:spcBef>
                <a:spcPts val="0"/>
              </a:spcBef>
              <a:spcAft>
                <a:spcPts val="0"/>
              </a:spcAft>
              <a:buClrTx/>
              <a:buSzTx/>
              <a:buFont typeface="Wingdings" panose="05000000000000000000" pitchFamily="2" charset="2"/>
              <a:buChar char="Ø"/>
              <a:tabLst/>
              <a:defRPr/>
            </a:pP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For further information about today’s message, visit </a:t>
            </a:r>
            <a:r>
              <a:rPr kumimoji="0" lang="en-US" sz="3000" b="1" i="0"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Turn2Moshiach.org</a:t>
            </a: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 or contact us at </a:t>
            </a:r>
            <a:r>
              <a:rPr kumimoji="0" lang="en-US" sz="3000" b="0" i="0"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info@Turn2Moshiach.org</a:t>
            </a: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2727170"/>
            <a:ext cx="10545775" cy="1554480"/>
          </a:xfrm>
          <a:prstGeom prst="rect">
            <a:avLst/>
          </a:prstGeom>
          <a:noFill/>
          <a:ln/>
        </p:spPr>
        <p:txBody>
          <a:bodyPr wrap="square" rtlCol="0" anchor="t"/>
          <a:lstStyle/>
          <a:p>
            <a:pPr marL="457200" marR="0" lvl="0" indent="-457200" algn="l" defTabSz="914400" rtl="0" eaLnBrk="1" fontAlgn="auto" latinLnBrk="0" hangingPunct="1">
              <a:lnSpc>
                <a:spcPct val="118000"/>
              </a:lnSpc>
              <a:spcBef>
                <a:spcPts val="0"/>
              </a:spcBef>
              <a:spcAft>
                <a:spcPts val="0"/>
              </a:spcAft>
              <a:buClrTx/>
              <a:buSzTx/>
              <a:buFont typeface="Wingdings" panose="05000000000000000000" pitchFamily="2" charset="2"/>
              <a:buChar char="Ø"/>
              <a:tabLst/>
              <a:defRPr/>
            </a:pP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For further information about Shuvah Yisrael Messianic Congregation, visit </a:t>
            </a:r>
            <a:r>
              <a:rPr kumimoji="0" lang="en-US" sz="3000" b="1" i="0"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ShuvahYisrael.org</a:t>
            </a: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 or contact us at </a:t>
            </a:r>
            <a:r>
              <a:rPr kumimoji="0" lang="en-US" sz="3000" b="0" i="0"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info@ShuvahYisrael.org</a:t>
            </a: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4418810"/>
            <a:ext cx="10545775" cy="1051560"/>
          </a:xfrm>
          <a:prstGeom prst="rect">
            <a:avLst/>
          </a:prstGeom>
          <a:noFill/>
          <a:ln/>
        </p:spPr>
        <p:txBody>
          <a:bodyPr wrap="square" rtlCol="0" anchor="t"/>
          <a:lstStyle/>
          <a:p>
            <a:pPr marL="457200" marR="0" lvl="0" indent="-457200" algn="l" defTabSz="914400" rtl="0" eaLnBrk="1" fontAlgn="auto" latinLnBrk="0" hangingPunct="1">
              <a:lnSpc>
                <a:spcPct val="118000"/>
              </a:lnSpc>
              <a:spcBef>
                <a:spcPts val="0"/>
              </a:spcBef>
              <a:spcAft>
                <a:spcPts val="0"/>
              </a:spcAft>
              <a:buClrTx/>
              <a:buSzTx/>
              <a:buFont typeface="Wingdings" panose="05000000000000000000" pitchFamily="2" charset="2"/>
              <a:buChar char="Ø"/>
              <a:tabLst/>
              <a:defRPr/>
            </a:pP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For further information about Messianic Hope, Inc., visit </a:t>
            </a:r>
            <a:r>
              <a:rPr kumimoji="0" lang="en-US" sz="3000" b="1" i="0"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MessianicGO.org</a:t>
            </a: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 or contact us at </a:t>
            </a:r>
            <a:r>
              <a:rPr kumimoji="0" lang="en-US" sz="3000" b="0" i="0" u="none" strike="noStrike" kern="1200" cap="none" spc="0" normalizeH="0" baseline="0" noProof="0" dirty="0">
                <a:ln>
                  <a:noFill/>
                </a:ln>
                <a:solidFill>
                  <a:srgbClr val="C9A227"/>
                </a:solidFill>
                <a:effectLst/>
                <a:uLnTx/>
                <a:uFillTx/>
                <a:latin typeface="Calibri" pitchFamily="34" charset="0"/>
                <a:ea typeface="Calibri" pitchFamily="34" charset="-122"/>
                <a:cs typeface="Calibri" pitchFamily="34" charset="-120"/>
              </a:rPr>
              <a:t>info@MessianicGO.org</a:t>
            </a:r>
            <a:r>
              <a:rPr kumimoji="0" lang="en-US" sz="3000" b="0" i="0" u="none" strike="noStrike" kern="1200" cap="none" spc="0" normalizeH="0" baseline="0" noProof="0" dirty="0">
                <a:ln>
                  <a:noFill/>
                </a:ln>
                <a:solidFill>
                  <a:srgbClr val="DCE0EE"/>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259958" y="6355080"/>
            <a:ext cx="10108777"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9AA3C0"/>
                </a:solidFill>
                <a:effectLst/>
                <a:uLnTx/>
                <a:uFillTx/>
                <a:latin typeface="Calibri" pitchFamily="34" charset="0"/>
                <a:ea typeface="Calibri" pitchFamily="34" charset="-122"/>
                <a:cs typeface="Calibri" pitchFamily="34" charset="-120"/>
              </a:rPr>
              <a:t>© 2026 Messianic Hope, Inc. All rights reserved.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4212</Words>
  <Application>Microsoft Office PowerPoint</Application>
  <PresentationFormat>Widescreen</PresentationFormat>
  <Paragraphs>402</Paragraphs>
  <Slides>71</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James Reppert</cp:lastModifiedBy>
  <cp:revision>8</cp:revision>
  <dcterms:created xsi:type="dcterms:W3CDTF">2026-09-06T13:15:45Z</dcterms:created>
  <dcterms:modified xsi:type="dcterms:W3CDTF">2026-10-09T03:26:18Z</dcterms:modified>
</cp:coreProperties>
</file>